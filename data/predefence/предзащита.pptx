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41"/>
  </p:notesMasterIdLst>
  <p:sldIdLst>
    <p:sldId id="286" r:id="rId3"/>
    <p:sldId id="287" r:id="rId4"/>
    <p:sldId id="301" r:id="rId5"/>
    <p:sldId id="302" r:id="rId6"/>
    <p:sldId id="303" r:id="rId7"/>
    <p:sldId id="304" r:id="rId8"/>
    <p:sldId id="305" r:id="rId9"/>
    <p:sldId id="306" r:id="rId10"/>
    <p:sldId id="307" r:id="rId11"/>
    <p:sldId id="308" r:id="rId12"/>
    <p:sldId id="315" r:id="rId13"/>
    <p:sldId id="309" r:id="rId14"/>
    <p:sldId id="313" r:id="rId15"/>
    <p:sldId id="314" r:id="rId16"/>
    <p:sldId id="316" r:id="rId17"/>
    <p:sldId id="317" r:id="rId18"/>
    <p:sldId id="319" r:id="rId19"/>
    <p:sldId id="320" r:id="rId20"/>
    <p:sldId id="321" r:id="rId21"/>
    <p:sldId id="322" r:id="rId22"/>
    <p:sldId id="323" r:id="rId23"/>
    <p:sldId id="324" r:id="rId24"/>
    <p:sldId id="325" r:id="rId25"/>
    <p:sldId id="326" r:id="rId26"/>
    <p:sldId id="327" r:id="rId27"/>
    <p:sldId id="328" r:id="rId28"/>
    <p:sldId id="330" r:id="rId29"/>
    <p:sldId id="332" r:id="rId30"/>
    <p:sldId id="333" r:id="rId31"/>
    <p:sldId id="335" r:id="rId32"/>
    <p:sldId id="336" r:id="rId33"/>
    <p:sldId id="337" r:id="rId34"/>
    <p:sldId id="338" r:id="rId35"/>
    <p:sldId id="311" r:id="rId36"/>
    <p:sldId id="312" r:id="rId37"/>
    <p:sldId id="297" r:id="rId38"/>
    <p:sldId id="298" r:id="rId39"/>
    <p:sldId id="300" r:id="rId4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39CFEA86-4681-4DF1-B2EF-3AA9AF6156AB}">
          <p14:sldIdLst>
            <p14:sldId id="286"/>
            <p14:sldId id="287"/>
            <p14:sldId id="301"/>
            <p14:sldId id="302"/>
            <p14:sldId id="303"/>
            <p14:sldId id="304"/>
            <p14:sldId id="305"/>
            <p14:sldId id="306"/>
            <p14:sldId id="307"/>
            <p14:sldId id="308"/>
            <p14:sldId id="315"/>
            <p14:sldId id="309"/>
            <p14:sldId id="313"/>
            <p14:sldId id="314"/>
            <p14:sldId id="316"/>
            <p14:sldId id="317"/>
            <p14:sldId id="319"/>
            <p14:sldId id="320"/>
            <p14:sldId id="321"/>
            <p14:sldId id="322"/>
            <p14:sldId id="323"/>
            <p14:sldId id="324"/>
            <p14:sldId id="325"/>
            <p14:sldId id="326"/>
            <p14:sldId id="327"/>
            <p14:sldId id="328"/>
            <p14:sldId id="330"/>
            <p14:sldId id="332"/>
            <p14:sldId id="333"/>
            <p14:sldId id="335"/>
            <p14:sldId id="336"/>
            <p14:sldId id="337"/>
            <p14:sldId id="338"/>
            <p14:sldId id="311"/>
            <p14:sldId id="312"/>
            <p14:sldId id="297"/>
            <p14:sldId id="298"/>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8AEF49-88F9-4F88-BBDB-8620B6F06893}" type="datetimeFigureOut">
              <a:rPr lang="ru-RU" smtClean="0"/>
              <a:t>09.03.2026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352EF4-1F65-4D39-BB17-DB8E996FC677}" type="slidenum">
              <a:rPr lang="ru-RU" smtClean="0"/>
              <a:t>‹#›</a:t>
            </a:fld>
            <a:endParaRPr lang="ru-RU"/>
          </a:p>
        </p:txBody>
      </p:sp>
    </p:spTree>
    <p:extLst>
      <p:ext uri="{BB962C8B-B14F-4D97-AF65-F5344CB8AC3E}">
        <p14:creationId xmlns:p14="http://schemas.microsoft.com/office/powerpoint/2010/main" val="4283691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ru-RU" dirty="0"/>
              <a:t>Общий рассказ про </a:t>
            </a:r>
            <a:r>
              <a:rPr lang="en-US" dirty="0"/>
              <a:t>GMM – </a:t>
            </a:r>
            <a:r>
              <a:rPr lang="ru-RU" dirty="0"/>
              <a:t>когда и кем был предложен, как используется (необходимы МУ), как оценивается (минимизация критерия </a:t>
            </a:r>
            <a:r>
              <a:rPr lang="en-US" dirty="0"/>
              <a:t>GMM</a:t>
            </a:r>
            <a:r>
              <a:rPr lang="ru-RU" dirty="0"/>
              <a:t>)</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ru-RU" dirty="0"/>
              <a:t>Включение слабых, нерелевантных или избыточных МУ деградирует качество оценок</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ru-RU" dirty="0"/>
              <a:t>Поэтому крайне важно на этапе отбора МУ правильно их отобрать</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ru-RU" dirty="0"/>
              <a:t>Что значит «правильно» - исследователи понимают по своему</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lang="ru-RU" dirty="0"/>
          </a:p>
          <a:p>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a:t>
            </a:fld>
            <a:endParaRPr lang="ru-RU"/>
          </a:p>
        </p:txBody>
      </p:sp>
    </p:spTree>
    <p:extLst>
      <p:ext uri="{BB962C8B-B14F-4D97-AF65-F5344CB8AC3E}">
        <p14:creationId xmlns:p14="http://schemas.microsoft.com/office/powerpoint/2010/main" val="3179154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Были предложены разные способы отбора моментных условий (у них есть такие недостатки)</a:t>
            </a:r>
            <a:endParaRPr lang="en-US" dirty="0"/>
          </a:p>
          <a:p>
            <a:pPr marL="228600" indent="-228600">
              <a:buAutoNum type="arabicParenR"/>
            </a:pPr>
            <a:r>
              <a:rPr lang="ru-RU" dirty="0"/>
              <a:t>В 2016 году Ларин скомпилировал наработки прошлых исследований и предложил тесты</a:t>
            </a:r>
            <a:endParaRPr lang="en-US" dirty="0"/>
          </a:p>
          <a:p>
            <a:pPr marL="228600" indent="-228600">
              <a:buAutoNum type="arabicParenR"/>
            </a:pPr>
            <a:r>
              <a:rPr lang="ru-RU" dirty="0"/>
              <a:t>Но в работе отсутствует: </a:t>
            </a:r>
          </a:p>
          <a:p>
            <a:pPr marL="685800" lvl="1" indent="-228600">
              <a:buAutoNum type="arabicParenR"/>
            </a:pPr>
            <a:r>
              <a:rPr lang="ru-RU" dirty="0"/>
              <a:t>Эмпирическая верификация тестов на конечных выборках</a:t>
            </a:r>
          </a:p>
          <a:p>
            <a:pPr marL="685800" lvl="1" indent="-228600">
              <a:buAutoNum type="arabicParenR"/>
            </a:pPr>
            <a:r>
              <a:rPr lang="ru-RU" dirty="0"/>
              <a:t>Симуляция </a:t>
            </a:r>
            <a:r>
              <a:rPr lang="ru-RU" dirty="0" err="1"/>
              <a:t>монте-карло</a:t>
            </a:r>
            <a:r>
              <a:rPr lang="ru-RU" dirty="0"/>
              <a:t> не закладывает ожидаемое поведение тестов в процесс генерации данных</a:t>
            </a:r>
          </a:p>
          <a:p>
            <a:pPr marL="685800" lvl="1" indent="-228600">
              <a:buAutoNum type="arabicParenR"/>
            </a:pPr>
            <a:r>
              <a:rPr lang="ru-RU" dirty="0"/>
              <a:t>Отсутствует экономическая интерпретация</a:t>
            </a:r>
          </a:p>
        </p:txBody>
      </p:sp>
      <p:sp>
        <p:nvSpPr>
          <p:cNvPr id="4" name="Номер слайда 3"/>
          <p:cNvSpPr>
            <a:spLocks noGrp="1"/>
          </p:cNvSpPr>
          <p:nvPr>
            <p:ph type="sldNum" sz="quarter" idx="5"/>
          </p:nvPr>
        </p:nvSpPr>
        <p:spPr/>
        <p:txBody>
          <a:bodyPr/>
          <a:lstStyle/>
          <a:p>
            <a:fld id="{BA352EF4-1F65-4D39-BB17-DB8E996FC677}" type="slidenum">
              <a:rPr lang="ru-RU" smtClean="0"/>
              <a:t>4</a:t>
            </a:fld>
            <a:endParaRPr lang="ru-RU"/>
          </a:p>
        </p:txBody>
      </p:sp>
    </p:spTree>
    <p:extLst>
      <p:ext uri="{BB962C8B-B14F-4D97-AF65-F5344CB8AC3E}">
        <p14:creationId xmlns:p14="http://schemas.microsoft.com/office/powerpoint/2010/main" val="1475760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Однако работа по большей части была теоретическая и применимость на практике выработанных инструментов не была исследована</a:t>
            </a:r>
            <a:endParaRPr lang="en-US" dirty="0"/>
          </a:p>
          <a:p>
            <a:pPr marL="228600" indent="-228600">
              <a:buAutoNum type="arabicParenR"/>
            </a:pPr>
            <a:r>
              <a:rPr lang="ru-RU" dirty="0"/>
              <a:t>Поэтому целью работы является применение предложенных тестов на практике (предварительно проведя необходимые симуляции и выбрав модель межвременного выбора) для формирование информационного поля макроэкономического агента с последующей интерпретацией</a:t>
            </a:r>
          </a:p>
          <a:p>
            <a:pPr marL="228600" indent="-228600">
              <a:buAutoNum type="arabicParenR"/>
            </a:pPr>
            <a:r>
              <a:rPr lang="ru-RU" dirty="0"/>
              <a:t>Задачи представлены на экране</a:t>
            </a:r>
          </a:p>
          <a:p>
            <a:pPr marL="228600"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5</a:t>
            </a:fld>
            <a:endParaRPr lang="ru-RU"/>
          </a:p>
        </p:txBody>
      </p:sp>
    </p:spTree>
    <p:extLst>
      <p:ext uri="{BB962C8B-B14F-4D97-AF65-F5344CB8AC3E}">
        <p14:creationId xmlns:p14="http://schemas.microsoft.com/office/powerpoint/2010/main" val="175456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У работы есть два направления значимости: теоретическое и практическое</a:t>
            </a:r>
          </a:p>
          <a:p>
            <a:pPr marL="228600" indent="-228600">
              <a:buAutoNum type="arabicParenR"/>
            </a:pPr>
            <a:r>
              <a:rPr lang="ru-RU" dirty="0"/>
              <a:t>Теоретическая значимость подразумевает</a:t>
            </a:r>
            <a:r>
              <a:rPr lang="en-US" dirty="0"/>
              <a:t> </a:t>
            </a:r>
            <a:r>
              <a:rPr lang="ru-RU" dirty="0"/>
              <a:t>улучшения процессов симуляции данных для проверки свойств тестов, при заложенных ожиданиях от их поведения в процесс генерации данных</a:t>
            </a:r>
          </a:p>
          <a:p>
            <a:pPr marL="228600" indent="-228600">
              <a:buAutoNum type="arabicParenR"/>
            </a:pPr>
            <a:r>
              <a:rPr lang="ru-RU" dirty="0"/>
              <a:t>Практическая значимость заключается в разработке вычислительного фреймворка для применения тестов и содержательной интерпретации категорий моментов для анализа влияния различных факторов на решение индивида о потребление, что может быть полезно в случае проведения </a:t>
            </a:r>
            <a:r>
              <a:rPr lang="en-US" dirty="0"/>
              <a:t>policy implications</a:t>
            </a: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6</a:t>
            </a:fld>
            <a:endParaRPr lang="ru-RU"/>
          </a:p>
        </p:txBody>
      </p:sp>
    </p:spTree>
    <p:extLst>
      <p:ext uri="{BB962C8B-B14F-4D97-AF65-F5344CB8AC3E}">
        <p14:creationId xmlns:p14="http://schemas.microsoft.com/office/powerpoint/2010/main" val="2863132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Чтобы погрузиться в контекст вопроса, необходимо ознакомится с существующими работами по </a:t>
            </a:r>
            <a:r>
              <a:rPr lang="en-US" dirty="0"/>
              <a:t>GMM</a:t>
            </a:r>
            <a:endParaRPr lang="ru-RU" dirty="0"/>
          </a:p>
          <a:p>
            <a:pPr marL="228600" indent="-228600">
              <a:buAutoNum type="arabicParenR"/>
            </a:pPr>
            <a:r>
              <a:rPr lang="ru-RU" dirty="0"/>
              <a:t>Начать стоит с того, как устроен этот метод, какие предпосылки в него заложены, как оцениваются параметры и какие есть свойства у этих оценок – все это отражено в работе </a:t>
            </a:r>
            <a:r>
              <a:rPr lang="en-US" dirty="0"/>
              <a:t>Hansen (1982)</a:t>
            </a:r>
          </a:p>
          <a:p>
            <a:pPr marL="228600" indent="-228600">
              <a:buAutoNum type="arabicParenR"/>
            </a:pPr>
            <a:r>
              <a:rPr lang="ru-RU" dirty="0"/>
              <a:t>А также в работе </a:t>
            </a:r>
            <a:r>
              <a:rPr lang="en-US" dirty="0"/>
              <a:t>Hanson </a:t>
            </a:r>
            <a:r>
              <a:rPr lang="ru-RU" dirty="0"/>
              <a:t>и </a:t>
            </a:r>
            <a:r>
              <a:rPr lang="en-US" dirty="0"/>
              <a:t>Singleton (1982) </a:t>
            </a:r>
            <a:r>
              <a:rPr lang="ru-RU" dirty="0"/>
              <a:t>изучается модель межвременного потребления Эйлера и ее оценивание в рамках </a:t>
            </a:r>
            <a:r>
              <a:rPr lang="en-US" dirty="0"/>
              <a:t>GMM</a:t>
            </a:r>
          </a:p>
          <a:p>
            <a:pPr marL="228600"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7</a:t>
            </a:fld>
            <a:endParaRPr lang="ru-RU"/>
          </a:p>
        </p:txBody>
      </p:sp>
    </p:spTree>
    <p:extLst>
      <p:ext uri="{BB962C8B-B14F-4D97-AF65-F5344CB8AC3E}">
        <p14:creationId xmlns:p14="http://schemas.microsoft.com/office/powerpoint/2010/main" val="4191006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В контексте ограничений метода были рассмотрены проблемы наличия слабых, нерелевантных моментных условий и их влияние на оценки параметров моделей</a:t>
            </a:r>
          </a:p>
          <a:p>
            <a:pPr marL="228600" indent="-228600">
              <a:buAutoNum type="arabicParenR"/>
            </a:pPr>
            <a:r>
              <a:rPr lang="ru-RU" dirty="0"/>
              <a:t>Авторы установили, что наличие подобных ограничений деградирует качество оценок, делая их смещенными и менее эффективными</a:t>
            </a:r>
          </a:p>
          <a:p>
            <a:pPr marL="228600" indent="-228600">
              <a:buAutoNum type="arabicParenR"/>
            </a:pPr>
            <a:r>
              <a:rPr lang="ru-RU" dirty="0"/>
              <a:t>Есть часть методов, которые способы </a:t>
            </a:r>
            <a:r>
              <a:rPr lang="ru-RU" dirty="0" err="1"/>
              <a:t>митигировать</a:t>
            </a:r>
            <a:r>
              <a:rPr lang="ru-RU" dirty="0"/>
              <a:t> последствия от таких моментных условий, но они не являются корнем проблемы и слабо помогают</a:t>
            </a:r>
          </a:p>
          <a:p>
            <a:pPr marL="228600" indent="-228600">
              <a:buAutoNum type="arabicParenR"/>
            </a:pPr>
            <a:r>
              <a:rPr lang="ru-RU" dirty="0"/>
              <a:t>Таким образом важно диагностировать моментные условия на релевантность</a:t>
            </a:r>
          </a:p>
        </p:txBody>
      </p:sp>
      <p:sp>
        <p:nvSpPr>
          <p:cNvPr id="4" name="Номер слайда 3"/>
          <p:cNvSpPr>
            <a:spLocks noGrp="1"/>
          </p:cNvSpPr>
          <p:nvPr>
            <p:ph type="sldNum" sz="quarter" idx="5"/>
          </p:nvPr>
        </p:nvSpPr>
        <p:spPr/>
        <p:txBody>
          <a:bodyPr/>
          <a:lstStyle/>
          <a:p>
            <a:fld id="{BA352EF4-1F65-4D39-BB17-DB8E996FC677}" type="slidenum">
              <a:rPr lang="ru-RU" smtClean="0"/>
              <a:t>8</a:t>
            </a:fld>
            <a:endParaRPr lang="ru-RU"/>
          </a:p>
        </p:txBody>
      </p:sp>
    </p:spTree>
    <p:extLst>
      <p:ext uri="{BB962C8B-B14F-4D97-AF65-F5344CB8AC3E}">
        <p14:creationId xmlns:p14="http://schemas.microsoft.com/office/powerpoint/2010/main" val="3777773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Были разработаны специальные методы отбора моментных условий, но у них есть ряд ограничений</a:t>
            </a:r>
          </a:p>
          <a:p>
            <a:pPr marL="228600" indent="-228600">
              <a:buAutoNum type="arabicParenR"/>
            </a:pPr>
            <a:r>
              <a:rPr lang="ru-RU" dirty="0"/>
              <a:t>Работа </a:t>
            </a:r>
            <a:r>
              <a:rPr lang="en-US" dirty="0"/>
              <a:t>Andrew </a:t>
            </a:r>
            <a:r>
              <a:rPr lang="ru-RU" dirty="0"/>
              <a:t>и </a:t>
            </a:r>
            <a:r>
              <a:rPr lang="en-US" dirty="0"/>
              <a:t>Lu </a:t>
            </a:r>
            <a:r>
              <a:rPr lang="ru-RU" dirty="0"/>
              <a:t>подразумевает, что исследователь задает </a:t>
            </a:r>
            <a:r>
              <a:rPr lang="ru-RU" dirty="0" err="1"/>
              <a:t>гиперпараметры</a:t>
            </a:r>
            <a:r>
              <a:rPr lang="ru-RU" dirty="0"/>
              <a:t> для отбора, что снижает объективность выбора моментов</a:t>
            </a:r>
          </a:p>
          <a:p>
            <a:pPr marL="228600" indent="-228600">
              <a:buAutoNum type="arabicParenR"/>
            </a:pPr>
            <a:r>
              <a:rPr lang="en-US" dirty="0"/>
              <a:t>Cheng </a:t>
            </a:r>
            <a:r>
              <a:rPr lang="ru-RU" dirty="0"/>
              <a:t>и</a:t>
            </a:r>
            <a:r>
              <a:rPr lang="en-US" dirty="0"/>
              <a:t> Liao</a:t>
            </a:r>
            <a:r>
              <a:rPr lang="ru-RU" dirty="0"/>
              <a:t> используют регуляризацию для автоматического подбора моментных условий прямо в задаче минимизации критерия </a:t>
            </a:r>
            <a:r>
              <a:rPr lang="en-US" dirty="0"/>
              <a:t>GMM</a:t>
            </a:r>
            <a:endParaRPr lang="ru-RU" dirty="0"/>
          </a:p>
          <a:p>
            <a:pPr marL="228600" indent="-228600">
              <a:buAutoNum type="arabicParenR"/>
            </a:pPr>
            <a:r>
              <a:rPr lang="ru-RU" dirty="0"/>
              <a:t>Подобные методы ориентируются на улучшении статистической точности, и здесь нет места отдельным понятиям релевантности или избыточности</a:t>
            </a:r>
          </a:p>
        </p:txBody>
      </p:sp>
      <p:sp>
        <p:nvSpPr>
          <p:cNvPr id="4" name="Номер слайда 3"/>
          <p:cNvSpPr>
            <a:spLocks noGrp="1"/>
          </p:cNvSpPr>
          <p:nvPr>
            <p:ph type="sldNum" sz="quarter" idx="5"/>
          </p:nvPr>
        </p:nvSpPr>
        <p:spPr/>
        <p:txBody>
          <a:bodyPr/>
          <a:lstStyle/>
          <a:p>
            <a:fld id="{BA352EF4-1F65-4D39-BB17-DB8E996FC677}" type="slidenum">
              <a:rPr lang="ru-RU" smtClean="0"/>
              <a:t>9</a:t>
            </a:fld>
            <a:endParaRPr lang="ru-RU"/>
          </a:p>
        </p:txBody>
      </p:sp>
    </p:spTree>
    <p:extLst>
      <p:ext uri="{BB962C8B-B14F-4D97-AF65-F5344CB8AC3E}">
        <p14:creationId xmlns:p14="http://schemas.microsoft.com/office/powerpoint/2010/main" val="248109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В 2016 году Ларин скомпилировал наработки прошлых исследований и предложил в своей работе 4 теста: тест на безусловную релевантность, условную релевантность, частичную безусловную релевантность и частичную условную релевантность</a:t>
            </a:r>
            <a:endParaRPr lang="en-US" dirty="0"/>
          </a:p>
          <a:p>
            <a:pPr marL="228600" indent="-228600">
              <a:buAutoNum type="arabicParenR"/>
            </a:pPr>
            <a:r>
              <a:rPr lang="ru-RU" dirty="0"/>
              <a:t>Работа предлагает статистические тесты для категоризации моментных условий</a:t>
            </a:r>
          </a:p>
          <a:p>
            <a:pPr marL="228600" indent="-228600">
              <a:buAutoNum type="arabicParenR"/>
            </a:pPr>
            <a:r>
              <a:rPr lang="ru-RU" dirty="0"/>
              <a:t>Тем не менее, остается открытым вопрос применения тестов на конечных выборках и специальных случаев приложения тестов</a:t>
            </a:r>
          </a:p>
          <a:p>
            <a:pPr marL="228600"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10</a:t>
            </a:fld>
            <a:endParaRPr lang="ru-RU"/>
          </a:p>
        </p:txBody>
      </p:sp>
    </p:spTree>
    <p:extLst>
      <p:ext uri="{BB962C8B-B14F-4D97-AF65-F5344CB8AC3E}">
        <p14:creationId xmlns:p14="http://schemas.microsoft.com/office/powerpoint/2010/main" val="1755252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В 2016 году Ларин скомпилировал наработки прошлых исследований и предложил в своей работе 4 теста: тест на безусловную релевантность, условную релевантность, частичную безусловную релевантность и частичную условную релевантность</a:t>
            </a:r>
            <a:endParaRPr lang="en-US" dirty="0"/>
          </a:p>
          <a:p>
            <a:pPr marL="228600" indent="-228600">
              <a:buAutoNum type="arabicParenR"/>
            </a:pPr>
            <a:r>
              <a:rPr lang="ru-RU" dirty="0"/>
              <a:t>Работа предлагает статистические тесты для категоризации моментных условий</a:t>
            </a:r>
          </a:p>
          <a:p>
            <a:pPr marL="228600" indent="-228600">
              <a:buAutoNum type="arabicParenR"/>
            </a:pPr>
            <a:r>
              <a:rPr lang="ru-RU" dirty="0"/>
              <a:t>Тем не менее, остается открытым вопрос применения тестов на конечных выборках и специальных случаев приложения тестов</a:t>
            </a:r>
          </a:p>
          <a:p>
            <a:pPr marL="228600"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11</a:t>
            </a:fld>
            <a:endParaRPr lang="ru-RU"/>
          </a:p>
        </p:txBody>
      </p:sp>
    </p:spTree>
    <p:extLst>
      <p:ext uri="{BB962C8B-B14F-4D97-AF65-F5344CB8AC3E}">
        <p14:creationId xmlns:p14="http://schemas.microsoft.com/office/powerpoint/2010/main" val="2000755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12</a:t>
            </a:fld>
            <a:endParaRPr lang="ru-RU"/>
          </a:p>
        </p:txBody>
      </p:sp>
    </p:spTree>
    <p:extLst>
      <p:ext uri="{BB962C8B-B14F-4D97-AF65-F5344CB8AC3E}">
        <p14:creationId xmlns:p14="http://schemas.microsoft.com/office/powerpoint/2010/main" val="1650384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13</a:t>
            </a:fld>
            <a:endParaRPr lang="ru-RU"/>
          </a:p>
        </p:txBody>
      </p:sp>
    </p:spTree>
    <p:extLst>
      <p:ext uri="{BB962C8B-B14F-4D97-AF65-F5344CB8AC3E}">
        <p14:creationId xmlns:p14="http://schemas.microsoft.com/office/powerpoint/2010/main" val="4256444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14</a:t>
            </a:fld>
            <a:endParaRPr lang="ru-RU"/>
          </a:p>
        </p:txBody>
      </p:sp>
    </p:spTree>
    <p:extLst>
      <p:ext uri="{BB962C8B-B14F-4D97-AF65-F5344CB8AC3E}">
        <p14:creationId xmlns:p14="http://schemas.microsoft.com/office/powerpoint/2010/main" val="2447770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15</a:t>
            </a:fld>
            <a:endParaRPr lang="ru-RU"/>
          </a:p>
        </p:txBody>
      </p:sp>
    </p:spTree>
    <p:extLst>
      <p:ext uri="{BB962C8B-B14F-4D97-AF65-F5344CB8AC3E}">
        <p14:creationId xmlns:p14="http://schemas.microsoft.com/office/powerpoint/2010/main" val="4168318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16</a:t>
            </a:fld>
            <a:endParaRPr lang="ru-RU"/>
          </a:p>
        </p:txBody>
      </p:sp>
    </p:spTree>
    <p:extLst>
      <p:ext uri="{BB962C8B-B14F-4D97-AF65-F5344CB8AC3E}">
        <p14:creationId xmlns:p14="http://schemas.microsoft.com/office/powerpoint/2010/main" val="2536346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17</a:t>
            </a:fld>
            <a:endParaRPr lang="ru-RU"/>
          </a:p>
        </p:txBody>
      </p:sp>
    </p:spTree>
    <p:extLst>
      <p:ext uri="{BB962C8B-B14F-4D97-AF65-F5344CB8AC3E}">
        <p14:creationId xmlns:p14="http://schemas.microsoft.com/office/powerpoint/2010/main" val="39088670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18</a:t>
            </a:fld>
            <a:endParaRPr lang="ru-RU"/>
          </a:p>
        </p:txBody>
      </p:sp>
    </p:spTree>
    <p:extLst>
      <p:ext uri="{BB962C8B-B14F-4D97-AF65-F5344CB8AC3E}">
        <p14:creationId xmlns:p14="http://schemas.microsoft.com/office/powerpoint/2010/main" val="1806005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19</a:t>
            </a:fld>
            <a:endParaRPr lang="ru-RU"/>
          </a:p>
        </p:txBody>
      </p:sp>
    </p:spTree>
    <p:extLst>
      <p:ext uri="{BB962C8B-B14F-4D97-AF65-F5344CB8AC3E}">
        <p14:creationId xmlns:p14="http://schemas.microsoft.com/office/powerpoint/2010/main" val="2726440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20</a:t>
            </a:fld>
            <a:endParaRPr lang="ru-RU"/>
          </a:p>
        </p:txBody>
      </p:sp>
    </p:spTree>
    <p:extLst>
      <p:ext uri="{BB962C8B-B14F-4D97-AF65-F5344CB8AC3E}">
        <p14:creationId xmlns:p14="http://schemas.microsoft.com/office/powerpoint/2010/main" val="633447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21</a:t>
            </a:fld>
            <a:endParaRPr lang="ru-RU"/>
          </a:p>
        </p:txBody>
      </p:sp>
    </p:spTree>
    <p:extLst>
      <p:ext uri="{BB962C8B-B14F-4D97-AF65-F5344CB8AC3E}">
        <p14:creationId xmlns:p14="http://schemas.microsoft.com/office/powerpoint/2010/main" val="1353880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22</a:t>
            </a:fld>
            <a:endParaRPr lang="ru-RU"/>
          </a:p>
        </p:txBody>
      </p:sp>
    </p:spTree>
    <p:extLst>
      <p:ext uri="{BB962C8B-B14F-4D97-AF65-F5344CB8AC3E}">
        <p14:creationId xmlns:p14="http://schemas.microsoft.com/office/powerpoint/2010/main" val="3817918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23</a:t>
            </a:fld>
            <a:endParaRPr lang="ru-RU"/>
          </a:p>
        </p:txBody>
      </p:sp>
    </p:spTree>
    <p:extLst>
      <p:ext uri="{BB962C8B-B14F-4D97-AF65-F5344CB8AC3E}">
        <p14:creationId xmlns:p14="http://schemas.microsoft.com/office/powerpoint/2010/main" val="3770475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24</a:t>
            </a:fld>
            <a:endParaRPr lang="ru-RU"/>
          </a:p>
        </p:txBody>
      </p:sp>
    </p:spTree>
    <p:extLst>
      <p:ext uri="{BB962C8B-B14F-4D97-AF65-F5344CB8AC3E}">
        <p14:creationId xmlns:p14="http://schemas.microsoft.com/office/powerpoint/2010/main" val="110148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25</a:t>
            </a:fld>
            <a:endParaRPr lang="ru-RU"/>
          </a:p>
        </p:txBody>
      </p:sp>
    </p:spTree>
    <p:extLst>
      <p:ext uri="{BB962C8B-B14F-4D97-AF65-F5344CB8AC3E}">
        <p14:creationId xmlns:p14="http://schemas.microsoft.com/office/powerpoint/2010/main" val="1260324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26</a:t>
            </a:fld>
            <a:endParaRPr lang="ru-RU"/>
          </a:p>
        </p:txBody>
      </p:sp>
    </p:spTree>
    <p:extLst>
      <p:ext uri="{BB962C8B-B14F-4D97-AF65-F5344CB8AC3E}">
        <p14:creationId xmlns:p14="http://schemas.microsoft.com/office/powerpoint/2010/main" val="30622848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27</a:t>
            </a:fld>
            <a:endParaRPr lang="ru-RU"/>
          </a:p>
        </p:txBody>
      </p:sp>
    </p:spTree>
    <p:extLst>
      <p:ext uri="{BB962C8B-B14F-4D97-AF65-F5344CB8AC3E}">
        <p14:creationId xmlns:p14="http://schemas.microsoft.com/office/powerpoint/2010/main" val="1550248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28</a:t>
            </a:fld>
            <a:endParaRPr lang="ru-RU"/>
          </a:p>
        </p:txBody>
      </p:sp>
    </p:spTree>
    <p:extLst>
      <p:ext uri="{BB962C8B-B14F-4D97-AF65-F5344CB8AC3E}">
        <p14:creationId xmlns:p14="http://schemas.microsoft.com/office/powerpoint/2010/main" val="6254645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29</a:t>
            </a:fld>
            <a:endParaRPr lang="ru-RU"/>
          </a:p>
        </p:txBody>
      </p:sp>
    </p:spTree>
    <p:extLst>
      <p:ext uri="{BB962C8B-B14F-4D97-AF65-F5344CB8AC3E}">
        <p14:creationId xmlns:p14="http://schemas.microsoft.com/office/powerpoint/2010/main" val="41079066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30</a:t>
            </a:fld>
            <a:endParaRPr lang="ru-RU"/>
          </a:p>
        </p:txBody>
      </p:sp>
    </p:spTree>
    <p:extLst>
      <p:ext uri="{BB962C8B-B14F-4D97-AF65-F5344CB8AC3E}">
        <p14:creationId xmlns:p14="http://schemas.microsoft.com/office/powerpoint/2010/main" val="41579866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31</a:t>
            </a:fld>
            <a:endParaRPr lang="ru-RU"/>
          </a:p>
        </p:txBody>
      </p:sp>
    </p:spTree>
    <p:extLst>
      <p:ext uri="{BB962C8B-B14F-4D97-AF65-F5344CB8AC3E}">
        <p14:creationId xmlns:p14="http://schemas.microsoft.com/office/powerpoint/2010/main" val="34911570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32</a:t>
            </a:fld>
            <a:endParaRPr lang="ru-RU"/>
          </a:p>
        </p:txBody>
      </p:sp>
    </p:spTree>
    <p:extLst>
      <p:ext uri="{BB962C8B-B14F-4D97-AF65-F5344CB8AC3E}">
        <p14:creationId xmlns:p14="http://schemas.microsoft.com/office/powerpoint/2010/main" val="32315940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arenR"/>
            </a:pPr>
            <a:r>
              <a:rPr lang="ru-RU" dirty="0"/>
              <a:t>Методология состоит из трех частей:</a:t>
            </a:r>
          </a:p>
          <a:p>
            <a:pPr marL="685800" lvl="1" indent="-228600">
              <a:buAutoNum type="arabicParenR"/>
            </a:pPr>
            <a:r>
              <a:rPr lang="ru-RU" dirty="0"/>
              <a:t>Симуляция тестов с заложенными ожиданиями от их поведения в процесс генерации данных</a:t>
            </a:r>
          </a:p>
          <a:p>
            <a:pPr marL="685800" lvl="1" indent="-228600">
              <a:buAutoNum type="arabicParenR"/>
            </a:pPr>
            <a:r>
              <a:rPr lang="ru-RU" dirty="0"/>
              <a:t>После проверки корректности идет сбор данных</a:t>
            </a:r>
          </a:p>
          <a:p>
            <a:pPr marL="685800" lvl="1" indent="-228600">
              <a:buAutoNum type="arabicParenR"/>
            </a:pPr>
            <a:r>
              <a:rPr lang="ru-RU" dirty="0"/>
              <a:t>Затем реализуется отбор моментных условий с содержательной интерпретацией</a:t>
            </a:r>
          </a:p>
          <a:p>
            <a:pPr marL="228600" lvl="0" indent="-228600">
              <a:buAutoNum type="arabicParenR"/>
            </a:pPr>
            <a:r>
              <a:rPr lang="ru-RU" dirty="0"/>
              <a:t>Есть ряд и ограничений из-за того, что мы имеем дело с </a:t>
            </a:r>
            <a:r>
              <a:rPr lang="ru-RU" dirty="0" err="1"/>
              <a:t>макроданными</a:t>
            </a:r>
            <a:r>
              <a:rPr lang="ru-RU" dirty="0"/>
              <a:t>:</a:t>
            </a:r>
          </a:p>
          <a:p>
            <a:pPr marL="685800" lvl="1" indent="-228600">
              <a:buAutoNum type="arabicParenR"/>
            </a:pPr>
            <a:r>
              <a:rPr lang="ru-RU" dirty="0"/>
              <a:t>Мы исследуем картинку в среднем, полагая что в экономике существует один большой макро агент, максимизирующий свою полезность</a:t>
            </a:r>
          </a:p>
          <a:p>
            <a:pPr marL="685800" lvl="1" indent="-228600">
              <a:buAutoNum type="arabicParenR"/>
            </a:pPr>
            <a:r>
              <a:rPr lang="ru-RU" dirty="0"/>
              <a:t>Ряд данных ограничен (2018-2025)</a:t>
            </a:r>
          </a:p>
          <a:p>
            <a:pPr marL="685800" lvl="1" indent="-228600">
              <a:buAutoNum type="arabicParenR"/>
            </a:pP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33</a:t>
            </a:fld>
            <a:endParaRPr lang="ru-RU"/>
          </a:p>
        </p:txBody>
      </p:sp>
    </p:spTree>
    <p:extLst>
      <p:ext uri="{BB962C8B-B14F-4D97-AF65-F5344CB8AC3E}">
        <p14:creationId xmlns:p14="http://schemas.microsoft.com/office/powerpoint/2010/main" val="4025484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685800" lvl="1" indent="-228600">
              <a:buAutoNum type="arabicParenR"/>
            </a:pPr>
            <a:r>
              <a:rPr lang="ru-RU" dirty="0"/>
              <a:t>Другая часть результатов планируется к получению. Так, это будет формирование информационного поля агента и его качественная интерпретация в контексте </a:t>
            </a:r>
            <a:r>
              <a:rPr lang="en-US" dirty="0"/>
              <a:t>policy implication</a:t>
            </a:r>
            <a:endParaRPr lang="ru-RU" dirty="0"/>
          </a:p>
        </p:txBody>
      </p:sp>
      <p:sp>
        <p:nvSpPr>
          <p:cNvPr id="4" name="Номер слайда 3"/>
          <p:cNvSpPr>
            <a:spLocks noGrp="1"/>
          </p:cNvSpPr>
          <p:nvPr>
            <p:ph type="sldNum" sz="quarter" idx="5"/>
          </p:nvPr>
        </p:nvSpPr>
        <p:spPr/>
        <p:txBody>
          <a:bodyPr/>
          <a:lstStyle/>
          <a:p>
            <a:fld id="{BA352EF4-1F65-4D39-BB17-DB8E996FC677}" type="slidenum">
              <a:rPr lang="ru-RU" smtClean="0"/>
              <a:t>34</a:t>
            </a:fld>
            <a:endParaRPr lang="ru-RU"/>
          </a:p>
        </p:txBody>
      </p:sp>
    </p:spTree>
    <p:extLst>
      <p:ext uri="{BB962C8B-B14F-4D97-AF65-F5344CB8AC3E}">
        <p14:creationId xmlns:p14="http://schemas.microsoft.com/office/powerpoint/2010/main" val="281922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1) Выводы: улучшена симуляция тестов с предложенной схемой генерации данных + написан вычислительный фреймворк + сформировано информационное множество агента с интерпретацией</a:t>
            </a:r>
          </a:p>
          <a:p>
            <a:r>
              <a:rPr lang="ru-RU" dirty="0"/>
              <a:t>2) Что дальше: межстрановое сравнение, применение других методов для отбора моментных условий и сравнение с исходным вариантом</a:t>
            </a:r>
          </a:p>
        </p:txBody>
      </p:sp>
      <p:sp>
        <p:nvSpPr>
          <p:cNvPr id="4" name="Номер слайда 3"/>
          <p:cNvSpPr>
            <a:spLocks noGrp="1"/>
          </p:cNvSpPr>
          <p:nvPr>
            <p:ph type="sldNum" sz="quarter" idx="5"/>
          </p:nvPr>
        </p:nvSpPr>
        <p:spPr/>
        <p:txBody>
          <a:bodyPr/>
          <a:lstStyle/>
          <a:p>
            <a:fld id="{BA352EF4-1F65-4D39-BB17-DB8E996FC677}" type="slidenum">
              <a:rPr lang="ru-RU" smtClean="0"/>
              <a:t>35</a:t>
            </a:fld>
            <a:endParaRPr lang="ru-RU"/>
          </a:p>
        </p:txBody>
      </p:sp>
    </p:spTree>
    <p:extLst>
      <p:ext uri="{BB962C8B-B14F-4D97-AF65-F5344CB8AC3E}">
        <p14:creationId xmlns:p14="http://schemas.microsoft.com/office/powerpoint/2010/main" val="108768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78B0AA-34DE-CE95-0056-016F43B1BDB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A7B1F945-5604-B9AB-45F8-3AD421D9EF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3E2DE5CB-1A6A-6B0B-CC9C-E70A621D24C0}"/>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99013548-FF75-1A5C-235F-6CA1F24A273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FE84CAD-367B-3572-DFAD-84603A0B0E54}"/>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2650511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BE417C-418F-9E20-A131-FEA34884E0C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1E72A79-1F22-CD8B-FC45-0EAD5FF3D62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D10AE44-6236-1C34-FD75-7433515078A6}"/>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1079C247-8F11-1F7B-5379-0F348DA14ED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DEB544E-5BC0-9B60-22D0-FF26E795CC8F}"/>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1235838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5FEA95-FCED-04D2-88C0-510363FAA76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1096541E-195E-910F-4C85-B94A180D55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22DF316-36F1-71AC-4EF6-94BBE47A08CF}"/>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ADB5CD30-4462-C896-2FFF-430930DF6F7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7D7D0D4-273E-C015-E82E-DDA0D5F9AD87}"/>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192578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0E81A4-6FC4-E479-11E7-CE954D47651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A1BC50EB-D32B-CDAE-ABFF-5D4F433308A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DA283D1-1539-B170-CA00-5E0FE0AE239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48F0E8E9-7DED-6E22-4148-7D0E0605AD31}"/>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6" name="Нижний колонтитул 5">
            <a:extLst>
              <a:ext uri="{FF2B5EF4-FFF2-40B4-BE49-F238E27FC236}">
                <a16:creationId xmlns:a16="http://schemas.microsoft.com/office/drawing/2014/main" id="{0F92E5EE-34A9-B646-3463-D76B793F947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491EC33-DC5C-8A40-06A9-7B4197489A8C}"/>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1377020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E2AF29-AB84-2979-DE44-74B29B68B52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8009DDCE-1962-4796-1442-DF7F1A4758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6C5B584-176D-72DC-AA35-95CD295DC76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8D4DD6A7-56E5-6A75-4103-A183CC459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8B89A9-140E-6908-B86D-21DD9EF6608E}"/>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19C2872A-14DE-FEF9-05D7-9EDF8C82512E}"/>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8" name="Нижний колонтитул 7">
            <a:extLst>
              <a:ext uri="{FF2B5EF4-FFF2-40B4-BE49-F238E27FC236}">
                <a16:creationId xmlns:a16="http://schemas.microsoft.com/office/drawing/2014/main" id="{7582C607-EDDE-435E-901D-03C96BEF908B}"/>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2DC3398B-49F2-837A-4B63-9279FBF8B153}"/>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1002794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D025E8-B669-A321-9FAD-E10A435B4200}"/>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904E183-1CDC-F2A2-173C-8D2F109DCFB9}"/>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4" name="Нижний колонтитул 3">
            <a:extLst>
              <a:ext uri="{FF2B5EF4-FFF2-40B4-BE49-F238E27FC236}">
                <a16:creationId xmlns:a16="http://schemas.microsoft.com/office/drawing/2014/main" id="{F5B419FC-915E-7556-8A1D-A00D0266A0F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D1E1F47-DDFF-E3C5-E805-25050C114167}"/>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378640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347BE0A-3FAA-A9AA-DC16-CC48135C123E}"/>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3" name="Нижний колонтитул 2">
            <a:extLst>
              <a:ext uri="{FF2B5EF4-FFF2-40B4-BE49-F238E27FC236}">
                <a16:creationId xmlns:a16="http://schemas.microsoft.com/office/drawing/2014/main" id="{5A458719-EE30-DFE1-B42A-CB7C1103EDDD}"/>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3386D953-803C-7357-D195-5A49096B63DB}"/>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960260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2398E-2CED-F67D-F1A4-A3E9E5A0730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F1390BA-15DE-5011-6AB1-5272B78C3A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B759123-5F9C-07FB-DD25-9183F0F76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3890DF6-7379-051B-A25D-CE47FD485100}"/>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6" name="Нижний колонтитул 5">
            <a:extLst>
              <a:ext uri="{FF2B5EF4-FFF2-40B4-BE49-F238E27FC236}">
                <a16:creationId xmlns:a16="http://schemas.microsoft.com/office/drawing/2014/main" id="{8B8C0348-B441-8936-B5FA-1B0EECB0B1D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15DFBBD-187C-7409-8B83-71CD12DCEBCE}"/>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3291365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F3DDCE-D181-61D9-814C-3BE638A4255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2A6EDD1D-9669-E797-EE4A-07F938A5A9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64823BA1-FEB7-1C1D-4919-797EB6D34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CA64EC0-15A3-3D28-6AE1-AEE043EB17A9}"/>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6" name="Нижний колонтитул 5">
            <a:extLst>
              <a:ext uri="{FF2B5EF4-FFF2-40B4-BE49-F238E27FC236}">
                <a16:creationId xmlns:a16="http://schemas.microsoft.com/office/drawing/2014/main" id="{43A8F39B-EF5B-F3CA-8008-9CED782F38E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DFC11E5-BBBF-2B3A-0BD7-E2FB60A270E3}"/>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962439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683896-DA63-109F-1AC0-AE6B059EEB4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EEE47DB3-9684-F406-2ED3-D64FAFC0D59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806801B-EA0D-D1FA-01BE-74AA3C96F164}"/>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E92E23F8-81BE-9FEF-27B4-A346518B22A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7DF7532-ABE8-53BF-BB5D-B2E40C7A4BC7}"/>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2632539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B311C77-8B17-0509-D640-7AF38481880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F6FAD407-84B1-5682-77F0-0A7926FA734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514729F-C10C-117B-27BD-FFD6EF8CF8B0}"/>
              </a:ext>
            </a:extLst>
          </p:cNvPr>
          <p:cNvSpPr>
            <a:spLocks noGrp="1"/>
          </p:cNvSpPr>
          <p:nvPr>
            <p:ph type="dt" sz="half" idx="10"/>
          </p:nvPr>
        </p:nvSpPr>
        <p:spPr/>
        <p:txBody>
          <a:body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5743CD5F-27FB-6C03-FBBB-003E549AB44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7B97A3F-CF7D-E0B5-49AD-F5FE9D12E738}"/>
              </a:ext>
            </a:extLst>
          </p:cNvPr>
          <p:cNvSpPr>
            <a:spLocks noGrp="1"/>
          </p:cNvSpPr>
          <p:nvPr>
            <p:ph type="sldNum" sz="quarter" idx="12"/>
          </p:nvPr>
        </p:nvSpPr>
        <p:spPr/>
        <p:txBody>
          <a:bodyPr/>
          <a:lstStyle/>
          <a:p>
            <a:fld id="{EFA56241-D5EC-4CB8-91F1-63CEC9D619AB}" type="slidenum">
              <a:rPr lang="ru-RU" smtClean="0"/>
              <a:t>‹#›</a:t>
            </a:fld>
            <a:endParaRPr lang="ru-RU"/>
          </a:p>
        </p:txBody>
      </p:sp>
    </p:spTree>
    <p:extLst>
      <p:ext uri="{BB962C8B-B14F-4D97-AF65-F5344CB8AC3E}">
        <p14:creationId xmlns:p14="http://schemas.microsoft.com/office/powerpoint/2010/main" val="1722634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211350705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273521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1" name="Текст 39">
            <a:extLst>
              <a:ext uri="{FF2B5EF4-FFF2-40B4-BE49-F238E27FC236}">
                <a16:creationId xmlns:a16="http://schemas.microsoft.com/office/drawing/2014/main" id="{25D35A19-1AA8-204A-BFCA-83B65D59CFF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3557077C-F503-0B4A-82A2-54D21547E589}"/>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659213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185075499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828334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78A6943-08BD-8C4D-A524-728A4340014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EB90A960-EE54-5742-BBB0-8536917AD4C0}"/>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391775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3DAEB9AB-245D-774E-9656-B80FCC7A20BB}"/>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98145217-7421-9C4F-9483-5AEA3D2895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491913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4007716A-CF6E-BC4E-83BE-CC4A3F1F2008}"/>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4921AC85-F824-C54B-91ED-6AB495D80D7A}"/>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89376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897B1CBC-D3E1-5F42-9E46-5C5D5982A1A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364269E6-245A-D54E-A8AD-14E29A03FAC1}"/>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7415828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78AD85C2-6CFD-A94C-8134-2B3392A33196}"/>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C50CF571-E523-5440-B1C9-D74160206AED}"/>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1690807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C9CC4AE0-EDCC-9A4F-97C4-4CAFF1F1EBCF}"/>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185F6674-A1EC-1846-AEB5-DA4959807147}"/>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995199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E0B9771-35DC-D24C-B598-648DE6F8DE6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5B1ACD18-BD14-2B4B-BA0A-46A5167E2C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4274352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a:t>
            </a:r>
            <a:r>
              <a:rPr lang="en-US" sz="2400" dirty="0" err="1">
                <a:solidFill>
                  <a:srgbClr val="102D69"/>
                </a:solidFill>
                <a:latin typeface="HSE Sans" panose="02000000000000000000" pitchFamily="2" charset="0"/>
              </a:rPr>
              <a:t>colours</a:t>
            </a:r>
            <a:r>
              <a:rPr lang="en-US" sz="2400" dirty="0">
                <a:solidFill>
                  <a:srgbClr val="102D69"/>
                </a:solidFill>
                <a:latin typeface="HSE Sans" panose="02000000000000000000" pitchFamily="2" charset="0"/>
              </a:rPr>
              <a:t>: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a:t>
            </a:r>
            <a:r>
              <a:rPr lang="en-US" sz="1300" dirty="0" err="1">
                <a:latin typeface="HSE Sans" panose="02000000000000000000" pitchFamily="2" charset="0"/>
              </a:rPr>
              <a:t>colours</a:t>
            </a:r>
            <a:r>
              <a:rPr lang="en-US" sz="1300" dirty="0">
                <a:latin typeface="HSE Sans" panose="02000000000000000000" pitchFamily="2" charset="0"/>
              </a:rPr>
              <a:t>; you may correctly ask what </a:t>
            </a:r>
            <a:r>
              <a:rPr lang="en-US" sz="1300" dirty="0" err="1">
                <a:latin typeface="HSE Sans" panose="02000000000000000000" pitchFamily="2" charset="0"/>
              </a:rPr>
              <a:t>colours</a:t>
            </a:r>
            <a:r>
              <a:rPr lang="en-US" sz="1300" dirty="0">
                <a:latin typeface="HSE Sans" panose="02000000000000000000" pitchFamily="2" charset="0"/>
              </a:rPr>
              <a:t> can be used and where to find them. We advise using HSE University’s official </a:t>
            </a:r>
            <a:r>
              <a:rPr lang="en-US" sz="1300" dirty="0" err="1">
                <a:latin typeface="HSE Sans" panose="02000000000000000000" pitchFamily="2" charset="0"/>
              </a:rPr>
              <a:t>colour</a:t>
            </a:r>
            <a:r>
              <a:rPr lang="en-US" sz="1300" dirty="0">
                <a:latin typeface="HSE Sans" panose="02000000000000000000" pitchFamily="2" charset="0"/>
              </a:rPr>
              <a:t>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2" name="Текст 39">
            <a:extLst>
              <a:ext uri="{FF2B5EF4-FFF2-40B4-BE49-F238E27FC236}">
                <a16:creationId xmlns:a16="http://schemas.microsoft.com/office/drawing/2014/main" id="{8FD4982C-EBD6-6D4D-A16B-212CB048938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3" name="Текст 39">
            <a:extLst>
              <a:ext uri="{FF2B5EF4-FFF2-40B4-BE49-F238E27FC236}">
                <a16:creationId xmlns:a16="http://schemas.microsoft.com/office/drawing/2014/main" id="{733D5CDE-163B-C148-A20F-A808E0652336}"/>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0114162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1" name="Текст 39">
            <a:extLst>
              <a:ext uri="{FF2B5EF4-FFF2-40B4-BE49-F238E27FC236}">
                <a16:creationId xmlns:a16="http://schemas.microsoft.com/office/drawing/2014/main" id="{25D35A19-1AA8-204A-BFCA-83B65D59CFF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3557077C-F503-0B4A-82A2-54D21547E589}"/>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4235605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9D694F-3582-1641-94D9-87F2A3453FC3}"/>
              </a:ext>
            </a:extLst>
          </p:cNvPr>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RU"/>
          </a:p>
        </p:txBody>
      </p:sp>
      <p:pic>
        <p:nvPicPr>
          <p:cNvPr id="4" name="Picture 3" descr="A blue circle with white text&#10;&#10;Description automatically generated with low confidence">
            <a:extLst>
              <a:ext uri="{FF2B5EF4-FFF2-40B4-BE49-F238E27FC236}">
                <a16:creationId xmlns:a16="http://schemas.microsoft.com/office/drawing/2014/main" id="{CFAE9005-17A7-5047-B315-642E9FB4F328}"/>
              </a:ext>
            </a:extLst>
          </p:cNvPr>
          <p:cNvPicPr>
            <a:picLocks noChangeAspect="1"/>
          </p:cNvPicPr>
          <p:nvPr userDrawn="1"/>
        </p:nvPicPr>
        <p:blipFill>
          <a:blip r:embed="rId3"/>
          <a:stretch>
            <a:fillRect/>
          </a:stretch>
        </p:blipFill>
        <p:spPr>
          <a:xfrm>
            <a:off x="5310809" y="2643809"/>
            <a:ext cx="1570383" cy="1570383"/>
          </a:xfrm>
          <a:prstGeom prst="rect">
            <a:avLst/>
          </a:prstGeom>
        </p:spPr>
      </p:pic>
    </p:spTree>
    <p:extLst>
      <p:ext uri="{BB962C8B-B14F-4D97-AF65-F5344CB8AC3E}">
        <p14:creationId xmlns:p14="http://schemas.microsoft.com/office/powerpoint/2010/main" val="1404326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CAE9EE-4972-16C1-35BC-5239803391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71F0323-A8B7-0885-FDF8-9B9C1A5DE8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16DCD12-792A-55CF-7DEA-99D941ED7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0854D1-25B3-40AF-B0CF-8A50F843045A}" type="datetimeFigureOut">
              <a:rPr lang="ru-RU" smtClean="0"/>
              <a:t>09.03.2026</a:t>
            </a:fld>
            <a:endParaRPr lang="ru-RU"/>
          </a:p>
        </p:txBody>
      </p:sp>
      <p:sp>
        <p:nvSpPr>
          <p:cNvPr id="5" name="Нижний колонтитул 4">
            <a:extLst>
              <a:ext uri="{FF2B5EF4-FFF2-40B4-BE49-F238E27FC236}">
                <a16:creationId xmlns:a16="http://schemas.microsoft.com/office/drawing/2014/main" id="{F024C5EC-AC91-F026-30EF-FE86F39E82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00B2A32E-BEF3-6314-4C9B-3878C47C7D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A56241-D5EC-4CB8-91F1-63CEC9D619AB}" type="slidenum">
              <a:rPr lang="ru-RU" smtClean="0"/>
              <a:t>‹#›</a:t>
            </a:fld>
            <a:endParaRPr lang="ru-RU"/>
          </a:p>
        </p:txBody>
      </p:sp>
    </p:spTree>
    <p:extLst>
      <p:ext uri="{BB962C8B-B14F-4D97-AF65-F5344CB8AC3E}">
        <p14:creationId xmlns:p14="http://schemas.microsoft.com/office/powerpoint/2010/main" val="3815945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79069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4.png"/><Relationship Id="rId7"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64.jpeg"/><Relationship Id="rId5" Type="http://schemas.openxmlformats.org/officeDocument/2006/relationships/image" Target="../media/image63.png"/><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hyperlink" Target="https://doi.org/10.1086/601443" TargetMode="External"/><Relationship Id="rId2" Type="http://schemas.openxmlformats.org/officeDocument/2006/relationships/hyperlink" Target="https://doi.org/10.1016/S0304-4076(00)00077-4" TargetMode="External"/><Relationship Id="rId1" Type="http://schemas.openxmlformats.org/officeDocument/2006/relationships/slideLayout" Target="../slideLayouts/slideLayout14.xml"/><Relationship Id="rId6" Type="http://schemas.openxmlformats.org/officeDocument/2006/relationships/hyperlink" Target="http://www.jstor.org/stable/3598926" TargetMode="External"/><Relationship Id="rId5" Type="http://schemas.openxmlformats.org/officeDocument/2006/relationships/hyperlink" Target="https://doi.org/10.1086/260724" TargetMode="External"/><Relationship Id="rId4" Type="http://schemas.openxmlformats.org/officeDocument/2006/relationships/hyperlink" Target="https://doi.org/10.1016/j.jeconom.2015.02.019"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doi.org/10.2307/1911873" TargetMode="External"/><Relationship Id="rId7" Type="http://schemas.openxmlformats.org/officeDocument/2006/relationships/hyperlink" Target="https://doi.org/10.1111/1468-0262.00151" TargetMode="External"/><Relationship Id="rId2" Type="http://schemas.openxmlformats.org/officeDocument/2006/relationships/hyperlink" Target="https://doi.org/10.2307/1912775" TargetMode="External"/><Relationship Id="rId1" Type="http://schemas.openxmlformats.org/officeDocument/2006/relationships/slideLayout" Target="../slideLayouts/slideLayout14.xml"/><Relationship Id="rId6" Type="http://schemas.openxmlformats.org/officeDocument/2006/relationships/hyperlink" Target="https://www.sberindex.ru/ru/dashboards/consumer-spending" TargetMode="External"/><Relationship Id="rId5" Type="http://schemas.openxmlformats.org/officeDocument/2006/relationships/hyperlink" Target="https://doi.org/10.2307/1913610" TargetMode="External"/><Relationship Id="rId4" Type="http://schemas.openxmlformats.org/officeDocument/2006/relationships/hyperlink" Target="https://ssrn.com/abstract=287764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p:txBody>
          <a:bodyPr>
            <a:noAutofit/>
          </a:bodyPr>
          <a:lstStyle/>
          <a:p>
            <a:r>
              <a:rPr lang="ru-RU" sz="3200" b="1" kern="100" dirty="0">
                <a:effectLst/>
                <a:latin typeface="Times New Roman" panose="02020603050405020304" pitchFamily="18" charset="0"/>
                <a:ea typeface="Aptos" panose="020B0004020202020204" pitchFamily="34" charset="0"/>
                <a:cs typeface="Times New Roman" panose="02020603050405020304" pitchFamily="18" charset="0"/>
              </a:rPr>
              <a:t>ТЕСТЫ НА ИЗБЫТОЧНОСТЬ МОМЕНТНЫХ  УСЛОВИЙ В ПРИЛОЖЕНИИ К МАКРОЭКОНОМИЧЕСКИМ МОДЕЛЯМ</a:t>
            </a:r>
            <a:endParaRPr lang="ru-RU" sz="3200" dirty="0"/>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p:txBody>
          <a:bodyPr/>
          <a:lstStyle/>
          <a:p>
            <a:r>
              <a:rPr lang="ru-RU" dirty="0"/>
              <a:t>Факультет экономики</a:t>
            </a:r>
          </a:p>
          <a:p>
            <a:r>
              <a:rPr lang="ru-RU" dirty="0"/>
              <a:t>Международный бакалавриат по бизнесу и экономике</a:t>
            </a:r>
          </a:p>
        </p:txBody>
      </p:sp>
      <p:sp>
        <p:nvSpPr>
          <p:cNvPr id="4" name="Текст 3">
            <a:extLst>
              <a:ext uri="{FF2B5EF4-FFF2-40B4-BE49-F238E27FC236}">
                <a16:creationId xmlns:a16="http://schemas.microsoft.com/office/drawing/2014/main" id="{83B3283F-BF0F-3744-BA57-1A19F8F76332}"/>
              </a:ext>
            </a:extLst>
          </p:cNvPr>
          <p:cNvSpPr>
            <a:spLocks noGrp="1"/>
          </p:cNvSpPr>
          <p:nvPr>
            <p:ph type="body" sz="quarter" idx="11"/>
          </p:nvPr>
        </p:nvSpPr>
        <p:spPr/>
        <p:txBody>
          <a:bodyPr/>
          <a:lstStyle/>
          <a:p>
            <a:r>
              <a:rPr lang="ru-RU" dirty="0"/>
              <a:t>Департамент экономики и анализа данных</a:t>
            </a:r>
            <a:endParaRPr lang="en-US" dirty="0"/>
          </a:p>
          <a:p>
            <a:endParaRPr lang="ru-RU" dirty="0"/>
          </a:p>
        </p:txBody>
      </p:sp>
      <p:sp>
        <p:nvSpPr>
          <p:cNvPr id="5" name="Текст 4">
            <a:extLst>
              <a:ext uri="{FF2B5EF4-FFF2-40B4-BE49-F238E27FC236}">
                <a16:creationId xmlns:a16="http://schemas.microsoft.com/office/drawing/2014/main" id="{CC6432FC-CD29-4D47-A915-D2737E0BEA33}"/>
              </a:ext>
            </a:extLst>
          </p:cNvPr>
          <p:cNvSpPr>
            <a:spLocks noGrp="1"/>
          </p:cNvSpPr>
          <p:nvPr>
            <p:ph type="body" idx="12"/>
          </p:nvPr>
        </p:nvSpPr>
        <p:spPr/>
        <p:txBody>
          <a:bodyPr/>
          <a:lstStyle/>
          <a:p>
            <a:r>
              <a:rPr lang="ru-RU" b="0" i="0" dirty="0">
                <a:solidFill>
                  <a:schemeClr val="tx1"/>
                </a:solidFill>
                <a:effectLst/>
                <a:latin typeface="HSE Sans" panose="02000000000000000000"/>
              </a:rPr>
              <a:t>Нижний Новгород</a:t>
            </a:r>
            <a:endParaRPr lang="en-US" b="0" i="0" dirty="0">
              <a:solidFill>
                <a:schemeClr val="tx1"/>
              </a:solidFill>
              <a:effectLst/>
              <a:latin typeface="HSE Sans" panose="02000000000000000000"/>
            </a:endParaRPr>
          </a:p>
          <a:p>
            <a:r>
              <a:rPr lang="en-US" dirty="0">
                <a:solidFill>
                  <a:schemeClr val="tx1"/>
                </a:solidFill>
                <a:latin typeface="HSE Sans" panose="02000000000000000000"/>
              </a:rPr>
              <a:t>2026</a:t>
            </a:r>
            <a:endParaRPr lang="en-US" b="0" i="0" dirty="0">
              <a:solidFill>
                <a:schemeClr val="tx1"/>
              </a:solidFill>
              <a:effectLst/>
              <a:latin typeface="HSE Sans" panose="02000000000000000000"/>
            </a:endParaRPr>
          </a:p>
        </p:txBody>
      </p:sp>
      <p:sp>
        <p:nvSpPr>
          <p:cNvPr id="6" name="Текст 5">
            <a:extLst>
              <a:ext uri="{FF2B5EF4-FFF2-40B4-BE49-F238E27FC236}">
                <a16:creationId xmlns:a16="http://schemas.microsoft.com/office/drawing/2014/main" id="{B32B7800-48A3-394E-A464-7BA3AE15CECB}"/>
              </a:ext>
            </a:extLst>
          </p:cNvPr>
          <p:cNvSpPr>
            <a:spLocks noGrp="1"/>
          </p:cNvSpPr>
          <p:nvPr>
            <p:ph type="body" sz="quarter" idx="13"/>
          </p:nvPr>
        </p:nvSpPr>
        <p:spPr>
          <a:xfrm>
            <a:off x="3671579" y="5150648"/>
            <a:ext cx="7625267" cy="652860"/>
          </a:xfrm>
        </p:spPr>
        <p:txBody>
          <a:bodyPr>
            <a:normAutofit fontScale="92500" lnSpcReduction="10000"/>
          </a:bodyPr>
          <a:lstStyle/>
          <a:p>
            <a:pPr algn="r"/>
            <a:r>
              <a:rPr lang="ru-RU" dirty="0"/>
              <a:t>ФИО: Гладков Александр Евгеньевич</a:t>
            </a:r>
          </a:p>
          <a:p>
            <a:pPr algn="r"/>
            <a:r>
              <a:rPr lang="ru-RU" dirty="0"/>
              <a:t>Научный руководитель: Александр Владимирович Ларин</a:t>
            </a:r>
          </a:p>
          <a:p>
            <a:pPr algn="r"/>
            <a:r>
              <a:rPr lang="ru-RU" dirty="0"/>
              <a:t>старший преподаватель</a:t>
            </a:r>
          </a:p>
        </p:txBody>
      </p:sp>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8219D05C-99A7-9C48-B903-118CF3BA60CA}"/>
              </a:ext>
            </a:extLst>
          </p:cNvPr>
          <p:cNvSpPr>
            <a:spLocks noGrp="1"/>
          </p:cNvSpPr>
          <p:nvPr>
            <p:ph type="title"/>
          </p:nvPr>
        </p:nvSpPr>
        <p:spPr/>
        <p:txBody>
          <a:bodyPr/>
          <a:lstStyle/>
          <a:p>
            <a:r>
              <a:rPr lang="ru-RU" b="1" dirty="0"/>
              <a:t>СОДЕРЖАНИЕ</a:t>
            </a:r>
          </a:p>
        </p:txBody>
      </p:sp>
      <p:sp>
        <p:nvSpPr>
          <p:cNvPr id="4" name="Текст 3">
            <a:extLst>
              <a:ext uri="{FF2B5EF4-FFF2-40B4-BE49-F238E27FC236}">
                <a16:creationId xmlns:a16="http://schemas.microsoft.com/office/drawing/2014/main" id="{985EFA28-570A-F647-B2F7-A43359726B4F}"/>
              </a:ext>
            </a:extLst>
          </p:cNvPr>
          <p:cNvSpPr>
            <a:spLocks noGrp="1"/>
          </p:cNvSpPr>
          <p:nvPr>
            <p:ph type="body" sz="quarter" idx="12"/>
          </p:nvPr>
        </p:nvSpPr>
        <p:spPr>
          <a:xfrm>
            <a:off x="585898" y="2016976"/>
            <a:ext cx="5245561" cy="4076006"/>
          </a:xfrm>
        </p:spPr>
        <p:txBody>
          <a:bodyPr>
            <a:noAutofit/>
          </a:bodyPr>
          <a:lstStyle/>
          <a:p>
            <a:pPr marL="285750" indent="-285750">
              <a:buFont typeface="Wingdings" panose="05000000000000000000" pitchFamily="2" charset="2"/>
              <a:buChar char="q"/>
            </a:pPr>
            <a:r>
              <a:rPr lang="ru-RU" sz="1400" b="1" dirty="0"/>
              <a:t>ВВЕДЕНИЕ</a:t>
            </a:r>
            <a:endParaRPr lang="en-US" sz="1400" b="1" dirty="0"/>
          </a:p>
          <a:p>
            <a:pPr marL="742950" lvl="1" indent="-285750">
              <a:buFont typeface="Wingdings" panose="05000000000000000000" pitchFamily="2" charset="2"/>
              <a:buChar char="§"/>
            </a:pPr>
            <a:r>
              <a:rPr lang="ru-RU" sz="1400" i="1" dirty="0"/>
              <a:t>Бэкграунд</a:t>
            </a:r>
            <a:r>
              <a:rPr lang="en-US" sz="1400" i="1" dirty="0"/>
              <a:t>	</a:t>
            </a:r>
          </a:p>
          <a:p>
            <a:pPr marL="742950" lvl="1" indent="-285750">
              <a:buFont typeface="Wingdings" panose="05000000000000000000" pitchFamily="2" charset="2"/>
              <a:buChar char="§"/>
            </a:pPr>
            <a:r>
              <a:rPr lang="ru-RU" sz="1400" i="1" dirty="0"/>
              <a:t>Постановка задачи</a:t>
            </a:r>
            <a:endParaRPr lang="en-US" sz="1400" i="1" dirty="0"/>
          </a:p>
          <a:p>
            <a:pPr marL="742950" lvl="1" indent="-285750">
              <a:buFont typeface="Wingdings" panose="05000000000000000000" pitchFamily="2" charset="2"/>
              <a:buChar char="§"/>
            </a:pPr>
            <a:r>
              <a:rPr lang="ru-RU" sz="1400" i="1" dirty="0"/>
              <a:t>Профессиональная значимость</a:t>
            </a:r>
          </a:p>
          <a:p>
            <a:pPr marL="285750" indent="-285750">
              <a:buFont typeface="Wingdings" panose="05000000000000000000" pitchFamily="2" charset="2"/>
              <a:buChar char="q"/>
            </a:pPr>
            <a:r>
              <a:rPr lang="ru-RU" sz="1400" b="1" dirty="0"/>
              <a:t>ОБЗОР ЛИТЕРАТУРЫ</a:t>
            </a:r>
            <a:endParaRPr lang="en-US" sz="1400" b="1" dirty="0"/>
          </a:p>
          <a:p>
            <a:pPr marL="742950" lvl="1" indent="-285750">
              <a:buFont typeface="Wingdings" panose="05000000000000000000" pitchFamily="2" charset="2"/>
              <a:buChar char="§"/>
            </a:pPr>
            <a:r>
              <a:rPr lang="ru-RU" sz="1400" i="1" dirty="0"/>
              <a:t>Основы </a:t>
            </a:r>
            <a:r>
              <a:rPr lang="en-US" sz="1400" i="1" dirty="0"/>
              <a:t>GMM</a:t>
            </a:r>
          </a:p>
          <a:p>
            <a:pPr marL="742950" lvl="1" indent="-285750">
              <a:buFont typeface="Wingdings" panose="05000000000000000000" pitchFamily="2" charset="2"/>
              <a:buChar char="§"/>
            </a:pPr>
            <a:r>
              <a:rPr lang="ru-RU" sz="1400" i="1" dirty="0"/>
              <a:t>Ограничения GMM в контексте моментных условий</a:t>
            </a:r>
          </a:p>
          <a:p>
            <a:pPr marL="742950" lvl="1" indent="-285750">
              <a:buFont typeface="Wingdings" panose="05000000000000000000" pitchFamily="2" charset="2"/>
              <a:buChar char="§"/>
            </a:pPr>
            <a:r>
              <a:rPr lang="ru-RU" sz="1400" i="1" dirty="0"/>
              <a:t>Способы отбора моментных условий</a:t>
            </a:r>
            <a:endParaRPr lang="en-US" sz="1400" i="1" dirty="0"/>
          </a:p>
          <a:p>
            <a:pPr marL="742950" lvl="1" indent="-285750">
              <a:buFont typeface="Wingdings" panose="05000000000000000000" pitchFamily="2" charset="2"/>
              <a:buChar char="§"/>
            </a:pPr>
            <a:r>
              <a:rPr lang="ru-RU" sz="1400" i="1" dirty="0"/>
              <a:t>Тест на релевантность и избыточность моментных условий</a:t>
            </a:r>
            <a:endParaRPr lang="en-US" sz="1400" dirty="0"/>
          </a:p>
          <a:p>
            <a:pPr marL="285750" indent="-285750">
              <a:buFont typeface="Wingdings" panose="05000000000000000000" pitchFamily="2" charset="2"/>
              <a:buChar char="q"/>
            </a:pPr>
            <a:r>
              <a:rPr lang="ru-RU" sz="1400" b="1" dirty="0"/>
              <a:t>МЕТОДЫ</a:t>
            </a:r>
            <a:endParaRPr lang="en-US" sz="1400" b="1" dirty="0"/>
          </a:p>
          <a:p>
            <a:pPr marL="285750" indent="-285750">
              <a:buFont typeface="Wingdings" panose="05000000000000000000" pitchFamily="2" charset="2"/>
              <a:buChar char="q"/>
            </a:pPr>
            <a:r>
              <a:rPr lang="ru-RU" sz="1400" b="1" dirty="0"/>
              <a:t>РЕЗУЛЬТАТЫ</a:t>
            </a:r>
            <a:endParaRPr lang="en-US" sz="1400" b="1" dirty="0"/>
          </a:p>
          <a:p>
            <a:pPr marL="285750" indent="-285750">
              <a:buFont typeface="Wingdings" panose="05000000000000000000" pitchFamily="2" charset="2"/>
              <a:buChar char="q"/>
            </a:pPr>
            <a:r>
              <a:rPr lang="ru-RU" sz="1400" b="1" dirty="0"/>
              <a:t>ВЫВОД</a:t>
            </a:r>
            <a:endParaRPr lang="en-US" sz="1400" b="1" dirty="0"/>
          </a:p>
          <a:p>
            <a:endParaRPr lang="en-US" sz="1400" dirty="0"/>
          </a:p>
          <a:p>
            <a:endParaRPr lang="ru-RU" sz="1400" dirty="0"/>
          </a:p>
        </p:txBody>
      </p:sp>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pic>
        <p:nvPicPr>
          <p:cNvPr id="3074" name="Picture 2" descr="План – Бесплатные иконки: бизнес">
            <a:extLst>
              <a:ext uri="{FF2B5EF4-FFF2-40B4-BE49-F238E27FC236}">
                <a16:creationId xmlns:a16="http://schemas.microsoft.com/office/drawing/2014/main" id="{9BD56895-44A9-6093-A4BB-81C687051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753" y="2342901"/>
            <a:ext cx="3017822" cy="3017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85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76567" y="1429128"/>
            <a:ext cx="5245560" cy="777025"/>
          </a:xfrm>
        </p:spPr>
        <p:txBody>
          <a:bodyPr/>
          <a:lstStyle/>
          <a:p>
            <a:r>
              <a:rPr lang="ru-RU" b="1" dirty="0"/>
              <a:t>Введение</a:t>
            </a:r>
            <a:r>
              <a:rPr lang="en-US" b="1" dirty="0"/>
              <a:t>: </a:t>
            </a:r>
            <a:r>
              <a:rPr lang="ru-RU" b="1" dirty="0"/>
              <a:t>бэкграунд</a:t>
            </a:r>
          </a:p>
        </p:txBody>
      </p:sp>
      <p:sp>
        <p:nvSpPr>
          <p:cNvPr id="12" name="TextBox 11">
            <a:extLst>
              <a:ext uri="{FF2B5EF4-FFF2-40B4-BE49-F238E27FC236}">
                <a16:creationId xmlns:a16="http://schemas.microsoft.com/office/drawing/2014/main" id="{A93FB263-0F53-00A9-763A-B55703020D0B}"/>
              </a:ext>
            </a:extLst>
          </p:cNvPr>
          <p:cNvSpPr txBox="1"/>
          <p:nvPr/>
        </p:nvSpPr>
        <p:spPr>
          <a:xfrm>
            <a:off x="585898" y="2043448"/>
            <a:ext cx="7520427" cy="954107"/>
          </a:xfrm>
          <a:prstGeom prst="rect">
            <a:avLst/>
          </a:prstGeom>
          <a:noFill/>
        </p:spPr>
        <p:txBody>
          <a:bodyPr wrap="square">
            <a:spAutoFit/>
          </a:bodyPr>
          <a:lstStyle/>
          <a:p>
            <a:r>
              <a:rPr lang="ru-RU" sz="1400" dirty="0">
                <a:latin typeface="HSE Sans" panose="02000000000000000000"/>
              </a:rPr>
              <a:t>GMM как ключевой инструмент в </a:t>
            </a:r>
            <a:r>
              <a:rPr lang="ru-RU" sz="1400" dirty="0" err="1">
                <a:latin typeface="HSE Sans" panose="02000000000000000000"/>
              </a:rPr>
              <a:t>макроэконометрике</a:t>
            </a:r>
            <a:r>
              <a:rPr lang="ru-RU" sz="1400" dirty="0">
                <a:latin typeface="HSE Sans" panose="02000000000000000000"/>
              </a:rPr>
              <a:t>:</a:t>
            </a:r>
          </a:p>
          <a:p>
            <a:pPr marL="285750" indent="-285750">
              <a:buFont typeface="Wingdings" panose="05000000000000000000" pitchFamily="2" charset="2"/>
              <a:buChar char="§"/>
            </a:pPr>
            <a:r>
              <a:rPr lang="ru-RU" sz="1400" dirty="0">
                <a:latin typeface="HSE Sans" panose="02000000000000000000"/>
              </a:rPr>
              <a:t>Связывает экономическую теорию с данными с помощью</a:t>
            </a:r>
            <a:r>
              <a:rPr lang="en-US" sz="1400" dirty="0">
                <a:latin typeface="HSE Sans" panose="02000000000000000000"/>
              </a:rPr>
              <a:t> </a:t>
            </a:r>
            <a:r>
              <a:rPr lang="ru-RU" sz="1400" dirty="0">
                <a:latin typeface="HSE Sans" panose="02000000000000000000"/>
              </a:rPr>
              <a:t>моментных условий </a:t>
            </a:r>
          </a:p>
          <a:p>
            <a:pPr marL="285750" indent="-285750">
              <a:buFont typeface="Wingdings" panose="05000000000000000000" pitchFamily="2" charset="2"/>
              <a:buChar char="§"/>
            </a:pPr>
            <a:r>
              <a:rPr lang="ru-RU" sz="1400" dirty="0">
                <a:latin typeface="HSE Sans" panose="02000000000000000000"/>
              </a:rPr>
              <a:t>Позволяет учитывать </a:t>
            </a:r>
            <a:r>
              <a:rPr lang="ru-RU" sz="1400" dirty="0" err="1">
                <a:latin typeface="HSE Sans" panose="02000000000000000000"/>
              </a:rPr>
              <a:t>эндогенность</a:t>
            </a:r>
            <a:r>
              <a:rPr lang="ru-RU" sz="1400" dirty="0">
                <a:latin typeface="HSE Sans" panose="02000000000000000000"/>
              </a:rPr>
              <a:t> и </a:t>
            </a:r>
            <a:r>
              <a:rPr lang="ru-RU" sz="1400" dirty="0" err="1">
                <a:latin typeface="HSE Sans" panose="02000000000000000000"/>
              </a:rPr>
              <a:t>гетероскедастичность</a:t>
            </a:r>
            <a:endParaRPr lang="ru-RU" sz="1400" dirty="0">
              <a:latin typeface="HSE Sans" panose="02000000000000000000"/>
            </a:endParaRPr>
          </a:p>
          <a:p>
            <a:pPr marL="285750" indent="-285750">
              <a:buFont typeface="Wingdings" panose="05000000000000000000" pitchFamily="2" charset="2"/>
              <a:buChar char="§"/>
            </a:pPr>
            <a:r>
              <a:rPr lang="ru-RU" sz="1400" dirty="0">
                <a:latin typeface="HSE Sans" panose="02000000000000000000"/>
              </a:rPr>
              <a:t>Дает возможность инкорпорировать рациональные ожидания</a:t>
            </a:r>
            <a:endParaRPr lang="en-US" sz="1400" dirty="0">
              <a:latin typeface="HSE Sans" panose="02000000000000000000"/>
            </a:endParaRPr>
          </a:p>
        </p:txBody>
      </p:sp>
      <p:pic>
        <p:nvPicPr>
          <p:cNvPr id="13" name="Рисунок 12">
            <a:extLst>
              <a:ext uri="{FF2B5EF4-FFF2-40B4-BE49-F238E27FC236}">
                <a16:creationId xmlns:a16="http://schemas.microsoft.com/office/drawing/2014/main" id="{69693C04-ED37-61D1-160B-16650F543C68}"/>
              </a:ext>
            </a:extLst>
          </p:cNvPr>
          <p:cNvPicPr>
            <a:picLocks noChangeAspect="1"/>
          </p:cNvPicPr>
          <p:nvPr/>
        </p:nvPicPr>
        <p:blipFill>
          <a:blip r:embed="rId3"/>
          <a:stretch>
            <a:fillRect/>
          </a:stretch>
        </p:blipFill>
        <p:spPr>
          <a:xfrm>
            <a:off x="7540343" y="1865569"/>
            <a:ext cx="3332359" cy="657872"/>
          </a:xfrm>
          <a:prstGeom prst="rect">
            <a:avLst/>
          </a:prstGeom>
        </p:spPr>
      </p:pic>
      <p:pic>
        <p:nvPicPr>
          <p:cNvPr id="27" name="Picture 9" descr="Modern Statistics for Modern Biology - 2 Statistical Modeling">
            <a:extLst>
              <a:ext uri="{FF2B5EF4-FFF2-40B4-BE49-F238E27FC236}">
                <a16:creationId xmlns:a16="http://schemas.microsoft.com/office/drawing/2014/main" id="{EBCB8FDE-2EEA-719E-118F-B9F6A12833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174" y="4397930"/>
            <a:ext cx="1082456" cy="1008456"/>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5C6BD56D-2D36-3FA8-632E-DBDFD9241317}"/>
              </a:ext>
            </a:extLst>
          </p:cNvPr>
          <p:cNvSpPr txBox="1"/>
          <p:nvPr/>
        </p:nvSpPr>
        <p:spPr>
          <a:xfrm>
            <a:off x="538058" y="5472907"/>
            <a:ext cx="2118687" cy="523220"/>
          </a:xfrm>
          <a:prstGeom prst="rect">
            <a:avLst/>
          </a:prstGeom>
          <a:noFill/>
        </p:spPr>
        <p:txBody>
          <a:bodyPr wrap="square" rtlCol="0">
            <a:spAutoFit/>
          </a:bodyPr>
          <a:lstStyle/>
          <a:p>
            <a:pPr algn="ctr"/>
            <a:r>
              <a:rPr lang="en-US" sz="1400" dirty="0">
                <a:latin typeface="HSE Sans" panose="02000000000000000000"/>
              </a:rPr>
              <a:t>Statistical models and parameters</a:t>
            </a:r>
            <a:endParaRPr lang="ru-RU" sz="1400" dirty="0"/>
          </a:p>
        </p:txBody>
      </p:sp>
      <p:pic>
        <p:nvPicPr>
          <p:cNvPr id="29" name="Picture 11" descr="Generalized Method of Moments (GMM) in R (Part 2 of 3) | by Alfred F. SAM |  CodeX | Medium">
            <a:extLst>
              <a:ext uri="{FF2B5EF4-FFF2-40B4-BE49-F238E27FC236}">
                <a16:creationId xmlns:a16="http://schemas.microsoft.com/office/drawing/2014/main" id="{7F303755-D972-ABC1-CC7E-F335916678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6241" y="3593213"/>
            <a:ext cx="2533650" cy="104775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7FB4A323-251F-39F0-C102-2E6BDF09BC37}"/>
              </a:ext>
            </a:extLst>
          </p:cNvPr>
          <p:cNvSpPr txBox="1"/>
          <p:nvPr/>
        </p:nvSpPr>
        <p:spPr>
          <a:xfrm>
            <a:off x="4015291" y="3418568"/>
            <a:ext cx="1955549" cy="307777"/>
          </a:xfrm>
          <a:prstGeom prst="rect">
            <a:avLst/>
          </a:prstGeom>
          <a:noFill/>
        </p:spPr>
        <p:txBody>
          <a:bodyPr wrap="square" rtlCol="0">
            <a:spAutoFit/>
          </a:bodyPr>
          <a:lstStyle/>
          <a:p>
            <a:pPr algn="ctr"/>
            <a:r>
              <a:rPr lang="en-US" sz="1400" dirty="0">
                <a:latin typeface="HSE Sans" panose="02000000000000000000"/>
              </a:rPr>
              <a:t>Moment conditions</a:t>
            </a:r>
            <a:endParaRPr lang="ru-RU" sz="1400" dirty="0"/>
          </a:p>
        </p:txBody>
      </p:sp>
      <p:pic>
        <p:nvPicPr>
          <p:cNvPr id="31" name="Picture 13" descr="Data png Images - Free Download on Freepik">
            <a:extLst>
              <a:ext uri="{FF2B5EF4-FFF2-40B4-BE49-F238E27FC236}">
                <a16:creationId xmlns:a16="http://schemas.microsoft.com/office/drawing/2014/main" id="{AB157E7A-7616-A4FA-554E-30D3CEF77F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58231" y="4704451"/>
            <a:ext cx="1453080" cy="145308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5" descr="Least Squares Estimation for Multiple Regression | Linear...">
            <a:extLst>
              <a:ext uri="{FF2B5EF4-FFF2-40B4-BE49-F238E27FC236}">
                <a16:creationId xmlns:a16="http://schemas.microsoft.com/office/drawing/2014/main" id="{3621AD0F-C8E4-7646-01F7-2BA418FB3F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43255" y="3410744"/>
            <a:ext cx="2095501" cy="206216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8AE21B18-8D93-0092-624D-BAE525213492}"/>
              </a:ext>
            </a:extLst>
          </p:cNvPr>
          <p:cNvSpPr txBox="1"/>
          <p:nvPr/>
        </p:nvSpPr>
        <p:spPr>
          <a:xfrm>
            <a:off x="10306720" y="2997555"/>
            <a:ext cx="1033809" cy="307777"/>
          </a:xfrm>
          <a:prstGeom prst="rect">
            <a:avLst/>
          </a:prstGeom>
          <a:noFill/>
        </p:spPr>
        <p:txBody>
          <a:bodyPr wrap="none" rtlCol="0">
            <a:spAutoFit/>
          </a:bodyPr>
          <a:lstStyle/>
          <a:p>
            <a:pPr algn="ctr"/>
            <a:r>
              <a:rPr lang="en-US" sz="1400" dirty="0">
                <a:latin typeface="HSE Sans" panose="02000000000000000000"/>
              </a:rPr>
              <a:t>Estimations</a:t>
            </a:r>
            <a:endParaRPr lang="ru-RU" sz="1400" dirty="0"/>
          </a:p>
        </p:txBody>
      </p:sp>
      <p:cxnSp>
        <p:nvCxnSpPr>
          <p:cNvPr id="34" name="Соединитель: изогнутый 33">
            <a:extLst>
              <a:ext uri="{FF2B5EF4-FFF2-40B4-BE49-F238E27FC236}">
                <a16:creationId xmlns:a16="http://schemas.microsoft.com/office/drawing/2014/main" id="{BB743DC3-FFBA-DF87-A95E-10059D6ED1C0}"/>
              </a:ext>
            </a:extLst>
          </p:cNvPr>
          <p:cNvCxnSpPr>
            <a:cxnSpLocks/>
            <a:stCxn id="28" idx="3"/>
            <a:endCxn id="29" idx="1"/>
          </p:cNvCxnSpPr>
          <p:nvPr/>
        </p:nvCxnSpPr>
        <p:spPr>
          <a:xfrm flipV="1">
            <a:off x="2656745" y="4117088"/>
            <a:ext cx="1069496" cy="1617429"/>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Соединитель: изогнутый 34">
            <a:extLst>
              <a:ext uri="{FF2B5EF4-FFF2-40B4-BE49-F238E27FC236}">
                <a16:creationId xmlns:a16="http://schemas.microsoft.com/office/drawing/2014/main" id="{0A336F96-D31F-1CB4-7EFC-D0FD2689F1F1}"/>
              </a:ext>
            </a:extLst>
          </p:cNvPr>
          <p:cNvCxnSpPr>
            <a:cxnSpLocks/>
            <a:stCxn id="29" idx="3"/>
            <a:endCxn id="31" idx="1"/>
          </p:cNvCxnSpPr>
          <p:nvPr/>
        </p:nvCxnSpPr>
        <p:spPr>
          <a:xfrm>
            <a:off x="6259891" y="4117088"/>
            <a:ext cx="898340" cy="1313903"/>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Соединитель: изогнутый 35">
            <a:extLst>
              <a:ext uri="{FF2B5EF4-FFF2-40B4-BE49-F238E27FC236}">
                <a16:creationId xmlns:a16="http://schemas.microsoft.com/office/drawing/2014/main" id="{F2D695FA-B798-6F5F-34F3-D35BC5887B36}"/>
              </a:ext>
            </a:extLst>
          </p:cNvPr>
          <p:cNvCxnSpPr>
            <a:cxnSpLocks/>
            <a:stCxn id="31" idx="3"/>
            <a:endCxn id="32" idx="1"/>
          </p:cNvCxnSpPr>
          <p:nvPr/>
        </p:nvCxnSpPr>
        <p:spPr>
          <a:xfrm flipV="1">
            <a:off x="8611311" y="4441826"/>
            <a:ext cx="1031944" cy="989165"/>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A555B7B3-44DC-EA05-C96B-5B6F6CD57D5C}"/>
              </a:ext>
            </a:extLst>
          </p:cNvPr>
          <p:cNvSpPr txBox="1"/>
          <p:nvPr/>
        </p:nvSpPr>
        <p:spPr>
          <a:xfrm>
            <a:off x="7238389" y="6157531"/>
            <a:ext cx="1372922" cy="307777"/>
          </a:xfrm>
          <a:prstGeom prst="rect">
            <a:avLst/>
          </a:prstGeom>
          <a:noFill/>
        </p:spPr>
        <p:txBody>
          <a:bodyPr wrap="square" rtlCol="0">
            <a:spAutoFit/>
          </a:bodyPr>
          <a:lstStyle/>
          <a:p>
            <a:pPr algn="ctr"/>
            <a:r>
              <a:rPr lang="en-US" sz="1400" dirty="0">
                <a:latin typeface="HSE Sans" panose="02000000000000000000"/>
              </a:rPr>
              <a:t>Data</a:t>
            </a:r>
            <a:endParaRPr lang="ru-RU" sz="1400" dirty="0"/>
          </a:p>
        </p:txBody>
      </p:sp>
      <p:sp>
        <p:nvSpPr>
          <p:cNvPr id="43" name="TextBox 42">
            <a:extLst>
              <a:ext uri="{FF2B5EF4-FFF2-40B4-BE49-F238E27FC236}">
                <a16:creationId xmlns:a16="http://schemas.microsoft.com/office/drawing/2014/main" id="{0092D847-7341-F57F-2609-3F48C17D117F}"/>
              </a:ext>
            </a:extLst>
          </p:cNvPr>
          <p:cNvSpPr txBox="1"/>
          <p:nvPr/>
        </p:nvSpPr>
        <p:spPr>
          <a:xfrm>
            <a:off x="3688689" y="4441825"/>
            <a:ext cx="2951427" cy="1600438"/>
          </a:xfrm>
          <a:prstGeom prst="rect">
            <a:avLst/>
          </a:prstGeom>
          <a:noFill/>
          <a:ln>
            <a:solidFill>
              <a:srgbClr val="002060"/>
            </a:solidFill>
          </a:ln>
        </p:spPr>
        <p:txBody>
          <a:bodyPr wrap="square" rtlCol="0">
            <a:spAutoFit/>
          </a:bodyPr>
          <a:lstStyle/>
          <a:p>
            <a:r>
              <a:rPr lang="ru-RU" sz="1400" dirty="0">
                <a:latin typeface="HSE Sans" panose="02000000000000000000"/>
              </a:rPr>
              <a:t>Включение </a:t>
            </a:r>
            <a:r>
              <a:rPr lang="ru-RU" sz="1400" b="1" dirty="0">
                <a:latin typeface="HSE Sans" panose="02000000000000000000"/>
              </a:rPr>
              <a:t>слабых</a:t>
            </a:r>
            <a:r>
              <a:rPr lang="ru-RU" sz="1400" dirty="0">
                <a:latin typeface="HSE Sans" panose="02000000000000000000"/>
              </a:rPr>
              <a:t>, </a:t>
            </a:r>
            <a:r>
              <a:rPr lang="ru-RU" sz="1400" b="1" dirty="0">
                <a:latin typeface="HSE Sans" panose="02000000000000000000"/>
              </a:rPr>
              <a:t>нерелевантных</a:t>
            </a:r>
            <a:r>
              <a:rPr lang="ru-RU" sz="1400" dirty="0">
                <a:latin typeface="HSE Sans" panose="02000000000000000000"/>
              </a:rPr>
              <a:t> или </a:t>
            </a:r>
            <a:r>
              <a:rPr lang="ru-RU" sz="1400" b="1" dirty="0">
                <a:latin typeface="HSE Sans" panose="02000000000000000000"/>
              </a:rPr>
              <a:t>избыточных</a:t>
            </a:r>
            <a:r>
              <a:rPr lang="ru-RU" sz="1400" dirty="0">
                <a:latin typeface="HSE Sans" panose="02000000000000000000"/>
              </a:rPr>
              <a:t> моментов приводит к ухудшению оценок:</a:t>
            </a:r>
          </a:p>
          <a:p>
            <a:pPr marL="285750" indent="-285750">
              <a:buFont typeface="Wingdings" panose="05000000000000000000" pitchFamily="2" charset="2"/>
              <a:buChar char="§"/>
            </a:pPr>
            <a:r>
              <a:rPr lang="ru-RU" sz="1400" dirty="0">
                <a:latin typeface="HSE Sans" panose="02000000000000000000"/>
              </a:rPr>
              <a:t>Слабая идентификация</a:t>
            </a:r>
          </a:p>
          <a:p>
            <a:pPr marL="285750" indent="-285750">
              <a:buFont typeface="Wingdings" panose="05000000000000000000" pitchFamily="2" charset="2"/>
              <a:buChar char="§"/>
            </a:pPr>
            <a:r>
              <a:rPr lang="ru-RU" sz="1400" dirty="0">
                <a:latin typeface="HSE Sans" panose="02000000000000000000"/>
              </a:rPr>
              <a:t>Смещенные оценки</a:t>
            </a:r>
          </a:p>
          <a:p>
            <a:pPr marL="285750" indent="-285750">
              <a:buFont typeface="Wingdings" panose="05000000000000000000" pitchFamily="2" charset="2"/>
              <a:buChar char="§"/>
            </a:pPr>
            <a:r>
              <a:rPr lang="ru-RU" sz="1400" dirty="0">
                <a:latin typeface="HSE Sans" panose="02000000000000000000"/>
              </a:rPr>
              <a:t>Искажения в выводах</a:t>
            </a:r>
          </a:p>
          <a:p>
            <a:pPr marL="285750" indent="-285750">
              <a:buFont typeface="Wingdings" panose="05000000000000000000" pitchFamily="2" charset="2"/>
              <a:buChar char="§"/>
            </a:pPr>
            <a:r>
              <a:rPr lang="ru-RU" sz="1400" dirty="0">
                <a:latin typeface="HSE Sans" panose="02000000000000000000"/>
              </a:rPr>
              <a:t>Снижение эффективности</a:t>
            </a:r>
          </a:p>
        </p:txBody>
      </p:sp>
    </p:spTree>
    <p:extLst>
      <p:ext uri="{BB962C8B-B14F-4D97-AF65-F5344CB8AC3E}">
        <p14:creationId xmlns:p14="http://schemas.microsoft.com/office/powerpoint/2010/main" val="592307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Hyperparameter icon vector image can be used for data science | Premium  Vector">
            <a:extLst>
              <a:ext uri="{FF2B5EF4-FFF2-40B4-BE49-F238E27FC236}">
                <a16:creationId xmlns:a16="http://schemas.microsoft.com/office/drawing/2014/main" id="{A5E18B7F-CF71-77BF-26D7-437DBA554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152" y="4892667"/>
            <a:ext cx="1575775" cy="1575775"/>
          </a:xfrm>
          <a:prstGeom prst="rect">
            <a:avLst/>
          </a:prstGeom>
          <a:noFill/>
          <a:extLst>
            <a:ext uri="{909E8E84-426E-40DD-AFC4-6F175D3DCCD1}">
              <a14:hiddenFill xmlns:a14="http://schemas.microsoft.com/office/drawing/2010/main">
                <a:solidFill>
                  <a:srgbClr val="FFFFFF"/>
                </a:solidFill>
              </a14:hiddenFill>
            </a:ext>
          </a:extLst>
        </p:spPr>
      </p:pic>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7" y="1459008"/>
            <a:ext cx="5245560" cy="777025"/>
          </a:xfrm>
        </p:spPr>
        <p:txBody>
          <a:bodyPr/>
          <a:lstStyle/>
          <a:p>
            <a:r>
              <a:rPr lang="ru-RU" b="1" dirty="0"/>
              <a:t>Введение: бэкграунд</a:t>
            </a:r>
          </a:p>
        </p:txBody>
      </p:sp>
      <p:sp>
        <p:nvSpPr>
          <p:cNvPr id="2" name="TextBox 1">
            <a:extLst>
              <a:ext uri="{FF2B5EF4-FFF2-40B4-BE49-F238E27FC236}">
                <a16:creationId xmlns:a16="http://schemas.microsoft.com/office/drawing/2014/main" id="{5DB95825-FCA7-E08D-78F2-44C72EFFCBF1}"/>
              </a:ext>
            </a:extLst>
          </p:cNvPr>
          <p:cNvSpPr txBox="1"/>
          <p:nvPr/>
        </p:nvSpPr>
        <p:spPr>
          <a:xfrm>
            <a:off x="437330" y="2014119"/>
            <a:ext cx="5245560" cy="1384995"/>
          </a:xfrm>
          <a:prstGeom prst="rect">
            <a:avLst/>
          </a:prstGeom>
          <a:noFill/>
        </p:spPr>
        <p:txBody>
          <a:bodyPr wrap="square" rtlCol="0">
            <a:spAutoFit/>
          </a:bodyPr>
          <a:lstStyle/>
          <a:p>
            <a:r>
              <a:rPr lang="ru-RU" sz="1400" dirty="0"/>
              <a:t>Были предложены методы отбора моментных условий, но они:</a:t>
            </a:r>
          </a:p>
          <a:p>
            <a:pPr marL="285750" indent="-285750">
              <a:buFont typeface="Wingdings" panose="05000000000000000000" pitchFamily="2" charset="2"/>
              <a:buChar char="§"/>
            </a:pPr>
            <a:r>
              <a:rPr lang="ru-RU" sz="1400" dirty="0"/>
              <a:t>Ориентированы на статистическую оптимизацию</a:t>
            </a:r>
          </a:p>
          <a:p>
            <a:pPr marL="285750" indent="-285750">
              <a:buFont typeface="Wingdings" panose="05000000000000000000" pitchFamily="2" charset="2"/>
              <a:buChar char="§"/>
            </a:pPr>
            <a:r>
              <a:rPr lang="ru-RU" sz="1400" dirty="0"/>
              <a:t>Требуют настройки параметров или штрафов</a:t>
            </a:r>
          </a:p>
          <a:p>
            <a:pPr marL="285750" indent="-285750">
              <a:buFont typeface="Wingdings" panose="05000000000000000000" pitchFamily="2" charset="2"/>
              <a:buChar char="§"/>
            </a:pPr>
            <a:r>
              <a:rPr lang="ru-RU" sz="1400" dirty="0"/>
              <a:t>Часто ограничиваются линейными или специфическими структурами моментов</a:t>
            </a:r>
          </a:p>
          <a:p>
            <a:pPr marL="285750" indent="-285750">
              <a:buFont typeface="Wingdings" panose="05000000000000000000" pitchFamily="2" charset="2"/>
              <a:buChar char="§"/>
            </a:pPr>
            <a:r>
              <a:rPr lang="ru-RU" sz="1400" dirty="0"/>
              <a:t>Не связывают релевантность напрямую с идентификацией</a:t>
            </a:r>
          </a:p>
        </p:txBody>
      </p:sp>
      <p:sp>
        <p:nvSpPr>
          <p:cNvPr id="4" name="TextBox 3">
            <a:extLst>
              <a:ext uri="{FF2B5EF4-FFF2-40B4-BE49-F238E27FC236}">
                <a16:creationId xmlns:a16="http://schemas.microsoft.com/office/drawing/2014/main" id="{F7DC76B7-5287-274B-3DF7-2447816221D1}"/>
              </a:ext>
            </a:extLst>
          </p:cNvPr>
          <p:cNvSpPr txBox="1"/>
          <p:nvPr/>
        </p:nvSpPr>
        <p:spPr>
          <a:xfrm>
            <a:off x="6818286" y="1989117"/>
            <a:ext cx="4547417" cy="1384995"/>
          </a:xfrm>
          <a:prstGeom prst="rect">
            <a:avLst/>
          </a:prstGeom>
          <a:noFill/>
        </p:spPr>
        <p:txBody>
          <a:bodyPr wrap="square">
            <a:spAutoFit/>
          </a:bodyPr>
          <a:lstStyle/>
          <a:p>
            <a:r>
              <a:rPr lang="ru-RU" sz="1400" dirty="0">
                <a:latin typeface="HSE Sans" panose="02000000000000000000"/>
              </a:rPr>
              <a:t>В 2016 году Александр Ларин предложил формальные тесты на:</a:t>
            </a:r>
          </a:p>
          <a:p>
            <a:pPr marL="285750" indent="-285750">
              <a:buFont typeface="Wingdings" panose="05000000000000000000" pitchFamily="2" charset="2"/>
              <a:buChar char="§"/>
            </a:pPr>
            <a:r>
              <a:rPr lang="ru-RU" sz="1400" dirty="0">
                <a:latin typeface="HSE Sans" panose="02000000000000000000"/>
              </a:rPr>
              <a:t>безусловную релевантность</a:t>
            </a:r>
          </a:p>
          <a:p>
            <a:pPr marL="285750" indent="-285750">
              <a:buFont typeface="Wingdings" panose="05000000000000000000" pitchFamily="2" charset="2"/>
              <a:buChar char="§"/>
            </a:pPr>
            <a:r>
              <a:rPr lang="ru-RU" sz="1400" dirty="0">
                <a:latin typeface="HSE Sans" panose="02000000000000000000"/>
              </a:rPr>
              <a:t>условную релевантность (избыточность)</a:t>
            </a:r>
          </a:p>
          <a:p>
            <a:pPr marL="285750" indent="-285750">
              <a:buFont typeface="Wingdings" panose="05000000000000000000" pitchFamily="2" charset="2"/>
              <a:buChar char="§"/>
            </a:pPr>
            <a:r>
              <a:rPr lang="ru-RU" sz="1400" dirty="0">
                <a:latin typeface="HSE Sans" panose="02000000000000000000"/>
              </a:rPr>
              <a:t>частичную безусловную релевантность</a:t>
            </a:r>
          </a:p>
          <a:p>
            <a:pPr marL="285750" indent="-285750">
              <a:buFont typeface="Wingdings" panose="05000000000000000000" pitchFamily="2" charset="2"/>
              <a:buChar char="§"/>
            </a:pPr>
            <a:r>
              <a:rPr lang="ru-RU" sz="1400" dirty="0">
                <a:latin typeface="HSE Sans" panose="02000000000000000000"/>
              </a:rPr>
              <a:t>частичную условную релевантность</a:t>
            </a:r>
          </a:p>
        </p:txBody>
      </p:sp>
      <p:pic>
        <p:nvPicPr>
          <p:cNvPr id="4098" name="Picture 2" descr="Optimization - Free seo and web icons">
            <a:extLst>
              <a:ext uri="{FF2B5EF4-FFF2-40B4-BE49-F238E27FC236}">
                <a16:creationId xmlns:a16="http://schemas.microsoft.com/office/drawing/2014/main" id="{3A248CAC-EA2A-FF8C-6FF3-FA25191ED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897" y="3644784"/>
            <a:ext cx="1765426" cy="176542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Linear Function Icons - Free SVG &amp; PNG Linear Function Images - Noun Project">
            <a:extLst>
              <a:ext uri="{FF2B5EF4-FFF2-40B4-BE49-F238E27FC236}">
                <a16:creationId xmlns:a16="http://schemas.microsoft.com/office/drawing/2014/main" id="{8CA38C68-1516-A4CE-6135-E7767BF9F1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5514" y="3803210"/>
            <a:ext cx="1240000" cy="12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Рисунок 9">
            <a:extLst>
              <a:ext uri="{FF2B5EF4-FFF2-40B4-BE49-F238E27FC236}">
                <a16:creationId xmlns:a16="http://schemas.microsoft.com/office/drawing/2014/main" id="{E237F5F6-2B56-3C61-5FBF-D9ECA4301E4A}"/>
              </a:ext>
            </a:extLst>
          </p:cNvPr>
          <p:cNvPicPr>
            <a:picLocks noChangeAspect="1"/>
          </p:cNvPicPr>
          <p:nvPr/>
        </p:nvPicPr>
        <p:blipFill>
          <a:blip r:embed="rId6"/>
          <a:stretch>
            <a:fillRect/>
          </a:stretch>
        </p:blipFill>
        <p:spPr>
          <a:xfrm>
            <a:off x="7770000" y="3679079"/>
            <a:ext cx="1846150" cy="2627648"/>
          </a:xfrm>
          <a:prstGeom prst="rect">
            <a:avLst/>
          </a:prstGeom>
          <a:ln w="28575">
            <a:solidFill>
              <a:srgbClr val="FFC000"/>
            </a:solidFill>
          </a:ln>
          <a:effectLst>
            <a:glow rad="101600">
              <a:schemeClr val="accent5">
                <a:satMod val="175000"/>
                <a:alpha val="40000"/>
              </a:schemeClr>
            </a:glow>
          </a:effectLst>
        </p:spPr>
      </p:pic>
      <p:sp>
        <p:nvSpPr>
          <p:cNvPr id="11" name="TextBox 10">
            <a:extLst>
              <a:ext uri="{FF2B5EF4-FFF2-40B4-BE49-F238E27FC236}">
                <a16:creationId xmlns:a16="http://schemas.microsoft.com/office/drawing/2014/main" id="{11C023AD-F3B1-CF1A-0BB0-E4CB6C042989}"/>
              </a:ext>
            </a:extLst>
          </p:cNvPr>
          <p:cNvSpPr txBox="1"/>
          <p:nvPr/>
        </p:nvSpPr>
        <p:spPr>
          <a:xfrm>
            <a:off x="4422000" y="4825434"/>
            <a:ext cx="3127115" cy="1169551"/>
          </a:xfrm>
          <a:prstGeom prst="rect">
            <a:avLst/>
          </a:prstGeom>
          <a:noFill/>
        </p:spPr>
        <p:txBody>
          <a:bodyPr wrap="square" rtlCol="0">
            <a:spAutoFit/>
          </a:bodyPr>
          <a:lstStyle/>
          <a:p>
            <a:r>
              <a:rPr lang="ru-RU" sz="1400" dirty="0"/>
              <a:t>Но что насчет применимости и особых случаев?</a:t>
            </a:r>
          </a:p>
          <a:p>
            <a:pPr marL="285750" indent="-285750">
              <a:buFont typeface="Wingdings" panose="05000000000000000000" pitchFamily="2" charset="2"/>
              <a:buChar char="§"/>
            </a:pPr>
            <a:r>
              <a:rPr lang="ru-RU" sz="1400" dirty="0"/>
              <a:t>Эмпирические данные?</a:t>
            </a:r>
          </a:p>
          <a:p>
            <a:pPr marL="285750" indent="-285750">
              <a:buFont typeface="Wingdings" panose="05000000000000000000" pitchFamily="2" charset="2"/>
              <a:buChar char="§"/>
            </a:pPr>
            <a:r>
              <a:rPr lang="ru-RU" sz="1400" dirty="0"/>
              <a:t>«Специальный» Монте-Карло?</a:t>
            </a:r>
          </a:p>
          <a:p>
            <a:pPr marL="285750" indent="-285750">
              <a:buFont typeface="Wingdings" panose="05000000000000000000" pitchFamily="2" charset="2"/>
              <a:buChar char="§"/>
            </a:pPr>
            <a:r>
              <a:rPr lang="ru-RU" sz="1400" dirty="0"/>
              <a:t>Экономическая интерпретация?</a:t>
            </a:r>
          </a:p>
        </p:txBody>
      </p:sp>
    </p:spTree>
    <p:extLst>
      <p:ext uri="{BB962C8B-B14F-4D97-AF65-F5344CB8AC3E}">
        <p14:creationId xmlns:p14="http://schemas.microsoft.com/office/powerpoint/2010/main" val="5707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p:txBody>
          <a:bodyPr/>
          <a:lstStyle/>
          <a:p>
            <a:r>
              <a:rPr lang="ru-RU" b="1" dirty="0"/>
              <a:t>Введение: постановка задачи</a:t>
            </a:r>
          </a:p>
        </p:txBody>
      </p:sp>
      <p:sp>
        <p:nvSpPr>
          <p:cNvPr id="9" name="TextBox 8">
            <a:extLst>
              <a:ext uri="{FF2B5EF4-FFF2-40B4-BE49-F238E27FC236}">
                <a16:creationId xmlns:a16="http://schemas.microsoft.com/office/drawing/2014/main" id="{C2C094F9-A2F4-03C2-1E92-1E1AB6277746}"/>
              </a:ext>
            </a:extLst>
          </p:cNvPr>
          <p:cNvSpPr txBox="1"/>
          <p:nvPr/>
        </p:nvSpPr>
        <p:spPr>
          <a:xfrm>
            <a:off x="1804591" y="2346444"/>
            <a:ext cx="4634309" cy="1169551"/>
          </a:xfrm>
          <a:prstGeom prst="rect">
            <a:avLst/>
          </a:prstGeom>
          <a:noFill/>
        </p:spPr>
        <p:txBody>
          <a:bodyPr wrap="square">
            <a:spAutoFit/>
          </a:bodyPr>
          <a:lstStyle/>
          <a:p>
            <a:r>
              <a:rPr lang="ru-RU" sz="1400" dirty="0">
                <a:latin typeface="HSE Sans" panose="02000000000000000000"/>
              </a:rPr>
              <a:t>Эмпирически проверить применимость тестов релевантности и избыточности моментных условий в рамках GMM и оценить их роль в формировании информационного поля экономического агента в моделях межвременного выбора</a:t>
            </a:r>
            <a:endParaRPr lang="ru-RU" sz="1400" dirty="0"/>
          </a:p>
        </p:txBody>
      </p:sp>
      <p:sp>
        <p:nvSpPr>
          <p:cNvPr id="11" name="TextBox 10">
            <a:extLst>
              <a:ext uri="{FF2B5EF4-FFF2-40B4-BE49-F238E27FC236}">
                <a16:creationId xmlns:a16="http://schemas.microsoft.com/office/drawing/2014/main" id="{F42F9E69-CE99-5786-B3F4-D06CF5300C0D}"/>
              </a:ext>
            </a:extLst>
          </p:cNvPr>
          <p:cNvSpPr txBox="1"/>
          <p:nvPr/>
        </p:nvSpPr>
        <p:spPr>
          <a:xfrm>
            <a:off x="482786" y="2353318"/>
            <a:ext cx="1321805" cy="646331"/>
          </a:xfrm>
          <a:prstGeom prst="rect">
            <a:avLst/>
          </a:prstGeom>
          <a:noFill/>
        </p:spPr>
        <p:txBody>
          <a:bodyPr wrap="square" rtlCol="0">
            <a:spAutoFit/>
          </a:bodyPr>
          <a:lstStyle/>
          <a:p>
            <a:pPr algn="ctr"/>
            <a:r>
              <a:rPr lang="ru-RU" sz="3600" b="1" dirty="0">
                <a:solidFill>
                  <a:schemeClr val="tx2">
                    <a:lumMod val="90000"/>
                    <a:lumOff val="10000"/>
                  </a:schemeClr>
                </a:solidFill>
                <a:latin typeface="HSE Sans" panose="02000000000000000000"/>
              </a:rPr>
              <a:t>ЦЕЛЬ</a:t>
            </a:r>
            <a:endParaRPr lang="ru-RU" sz="3600" b="1" dirty="0">
              <a:solidFill>
                <a:schemeClr val="tx2">
                  <a:lumMod val="90000"/>
                  <a:lumOff val="10000"/>
                </a:schemeClr>
              </a:solidFill>
            </a:endParaRPr>
          </a:p>
        </p:txBody>
      </p:sp>
      <p:sp>
        <p:nvSpPr>
          <p:cNvPr id="12" name="TextBox 11">
            <a:extLst>
              <a:ext uri="{FF2B5EF4-FFF2-40B4-BE49-F238E27FC236}">
                <a16:creationId xmlns:a16="http://schemas.microsoft.com/office/drawing/2014/main" id="{6864D773-C572-A2F1-21B2-517128D4B854}"/>
              </a:ext>
            </a:extLst>
          </p:cNvPr>
          <p:cNvSpPr txBox="1"/>
          <p:nvPr/>
        </p:nvSpPr>
        <p:spPr>
          <a:xfrm rot="16200000">
            <a:off x="-250874" y="4678244"/>
            <a:ext cx="2789125" cy="707886"/>
          </a:xfrm>
          <a:prstGeom prst="rect">
            <a:avLst/>
          </a:prstGeom>
          <a:noFill/>
        </p:spPr>
        <p:txBody>
          <a:bodyPr wrap="square" rtlCol="0">
            <a:spAutoFit/>
          </a:bodyPr>
          <a:lstStyle/>
          <a:p>
            <a:pPr algn="ctr"/>
            <a:r>
              <a:rPr lang="ru-RU" sz="4000" b="1" dirty="0">
                <a:solidFill>
                  <a:schemeClr val="tx2">
                    <a:lumMod val="90000"/>
                    <a:lumOff val="10000"/>
                  </a:schemeClr>
                </a:solidFill>
                <a:latin typeface="HSE Sans" panose="02000000000000000000"/>
              </a:rPr>
              <a:t>ЗАДАЧИ</a:t>
            </a:r>
            <a:endParaRPr lang="ru-RU" sz="4000" b="1" dirty="0">
              <a:solidFill>
                <a:schemeClr val="tx2">
                  <a:lumMod val="90000"/>
                  <a:lumOff val="10000"/>
                </a:schemeClr>
              </a:solidFill>
            </a:endParaRPr>
          </a:p>
        </p:txBody>
      </p:sp>
      <p:sp>
        <p:nvSpPr>
          <p:cNvPr id="17" name="TextBox 16">
            <a:extLst>
              <a:ext uri="{FF2B5EF4-FFF2-40B4-BE49-F238E27FC236}">
                <a16:creationId xmlns:a16="http://schemas.microsoft.com/office/drawing/2014/main" id="{57F0A41E-8CD1-5800-7853-356E98CC98B2}"/>
              </a:ext>
            </a:extLst>
          </p:cNvPr>
          <p:cNvSpPr txBox="1"/>
          <p:nvPr/>
        </p:nvSpPr>
        <p:spPr>
          <a:xfrm>
            <a:off x="1804591" y="3959321"/>
            <a:ext cx="6332517" cy="2462213"/>
          </a:xfrm>
          <a:prstGeom prst="rect">
            <a:avLst/>
          </a:prstGeom>
          <a:noFill/>
        </p:spPr>
        <p:txBody>
          <a:bodyPr wrap="square" rtlCol="0">
            <a:spAutoFit/>
          </a:bodyPr>
          <a:lstStyle/>
          <a:p>
            <a:pPr marL="285750" indent="-285750" algn="l">
              <a:buFont typeface="Wingdings" panose="05000000000000000000" pitchFamily="2" charset="2"/>
              <a:buChar char="Ø"/>
            </a:pPr>
            <a:r>
              <a:rPr lang="ru-RU" sz="1400" b="0" i="0" dirty="0">
                <a:effectLst/>
                <a:latin typeface="HSE Sans" panose="02000000000000000000"/>
              </a:rPr>
              <a:t>Проанализировать теоретические основы GMM и роль </a:t>
            </a:r>
            <a:r>
              <a:rPr lang="ru-RU" sz="1400" dirty="0">
                <a:latin typeface="HSE Sans" panose="02000000000000000000"/>
              </a:rPr>
              <a:t>моментных</a:t>
            </a:r>
            <a:r>
              <a:rPr lang="ru-RU" sz="1400" b="0" i="0" dirty="0">
                <a:effectLst/>
                <a:latin typeface="HSE Sans" panose="02000000000000000000"/>
              </a:rPr>
              <a:t> условий в идентификации и качестве оценок</a:t>
            </a:r>
          </a:p>
          <a:p>
            <a:pPr marL="285750" indent="-285750" algn="l">
              <a:buFont typeface="Wingdings" panose="05000000000000000000" pitchFamily="2" charset="2"/>
              <a:buChar char="Ø"/>
            </a:pPr>
            <a:r>
              <a:rPr lang="ru-RU" sz="1400" b="0" i="0" dirty="0">
                <a:effectLst/>
                <a:latin typeface="HSE Sans" panose="02000000000000000000"/>
              </a:rPr>
              <a:t>Провести основанное на моделировании исследование свойств тестов на актуальность и избыточность на конечной выборке</a:t>
            </a:r>
          </a:p>
          <a:p>
            <a:pPr marL="285750" indent="-285750" algn="l">
              <a:buFont typeface="Wingdings" panose="05000000000000000000" pitchFamily="2" charset="2"/>
              <a:buChar char="Ø"/>
            </a:pPr>
            <a:r>
              <a:rPr lang="ru-RU" sz="1400" b="0" i="0" dirty="0">
                <a:effectLst/>
                <a:latin typeface="HSE Sans" panose="02000000000000000000"/>
              </a:rPr>
              <a:t>Разработать универсальный вычислительный фреймворк для реализации этих тестов на практике</a:t>
            </a:r>
          </a:p>
          <a:p>
            <a:pPr marL="285750" indent="-285750" algn="l">
              <a:buFont typeface="Wingdings" panose="05000000000000000000" pitchFamily="2" charset="2"/>
              <a:buChar char="Ø"/>
            </a:pPr>
            <a:r>
              <a:rPr lang="ru-RU" sz="1400" b="0" i="0" dirty="0">
                <a:effectLst/>
                <a:latin typeface="HSE Sans" panose="02000000000000000000"/>
              </a:rPr>
              <a:t>Построить потенциальные моментные условия с использованием макроэкономических данных</a:t>
            </a:r>
          </a:p>
          <a:p>
            <a:pPr marL="285750" indent="-285750" algn="l">
              <a:buFont typeface="Wingdings" panose="05000000000000000000" pitchFamily="2" charset="2"/>
              <a:buChar char="Ø"/>
            </a:pPr>
            <a:r>
              <a:rPr lang="ru-RU" sz="1400" b="0" i="0" dirty="0">
                <a:effectLst/>
                <a:latin typeface="HSE Sans" panose="02000000000000000000"/>
              </a:rPr>
              <a:t>Применить тесты эмпирически для оценки модели межвременного выбора</a:t>
            </a:r>
          </a:p>
          <a:p>
            <a:pPr marL="285750" indent="-285750" algn="l">
              <a:buFont typeface="Wingdings" panose="05000000000000000000" pitchFamily="2" charset="2"/>
              <a:buChar char="Ø"/>
            </a:pPr>
            <a:r>
              <a:rPr lang="ru-RU" sz="1400" b="0" i="0" dirty="0">
                <a:effectLst/>
                <a:latin typeface="HSE Sans" panose="02000000000000000000"/>
              </a:rPr>
              <a:t>Проинтерпретировать выбранные моменты как элементы информационного поля агента</a:t>
            </a:r>
          </a:p>
        </p:txBody>
      </p:sp>
      <p:pic>
        <p:nvPicPr>
          <p:cNvPr id="6148" name="Picture 4" descr="Download Free Objectives Icons in PNG &amp; SVG">
            <a:extLst>
              <a:ext uri="{FF2B5EF4-FFF2-40B4-BE49-F238E27FC236}">
                <a16:creationId xmlns:a16="http://schemas.microsoft.com/office/drawing/2014/main" id="{349F8BA0-92F6-F47B-5585-51A6E8331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2050" y="3673189"/>
            <a:ext cx="2438400" cy="243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F0EF734-CB1E-E08D-E33D-B09E6DFC0188}"/>
              </a:ext>
            </a:extLst>
          </p:cNvPr>
          <p:cNvSpPr txBox="1"/>
          <p:nvPr/>
        </p:nvSpPr>
        <p:spPr>
          <a:xfrm>
            <a:off x="8460179" y="2353318"/>
            <a:ext cx="3359401" cy="738664"/>
          </a:xfrm>
          <a:prstGeom prst="rect">
            <a:avLst/>
          </a:prstGeom>
          <a:noFill/>
        </p:spPr>
        <p:txBody>
          <a:bodyPr wrap="square">
            <a:spAutoFit/>
          </a:bodyPr>
          <a:lstStyle/>
          <a:p>
            <a:pPr marL="285750" indent="-285750">
              <a:buFont typeface="Wingdings" panose="05000000000000000000" pitchFamily="2" charset="2"/>
              <a:buChar char="§"/>
            </a:pPr>
            <a:r>
              <a:rPr lang="ru-RU" sz="1400" dirty="0"/>
              <a:t>Эмпирические данные?</a:t>
            </a:r>
          </a:p>
          <a:p>
            <a:pPr marL="285750" indent="-285750">
              <a:buFont typeface="Wingdings" panose="05000000000000000000" pitchFamily="2" charset="2"/>
              <a:buChar char="§"/>
            </a:pPr>
            <a:r>
              <a:rPr lang="ru-RU" sz="1400" dirty="0"/>
              <a:t>«Специальный» Монте-Карло?</a:t>
            </a:r>
          </a:p>
          <a:p>
            <a:pPr marL="285750" indent="-285750">
              <a:buFont typeface="Wingdings" panose="05000000000000000000" pitchFamily="2" charset="2"/>
              <a:buChar char="§"/>
            </a:pPr>
            <a:r>
              <a:rPr lang="ru-RU" sz="1400" dirty="0"/>
              <a:t>Экономическая интерпретация?</a:t>
            </a:r>
          </a:p>
        </p:txBody>
      </p:sp>
    </p:spTree>
    <p:extLst>
      <p:ext uri="{BB962C8B-B14F-4D97-AF65-F5344CB8AC3E}">
        <p14:creationId xmlns:p14="http://schemas.microsoft.com/office/powerpoint/2010/main" val="986015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7373114" cy="777025"/>
          </a:xfrm>
        </p:spPr>
        <p:txBody>
          <a:bodyPr/>
          <a:lstStyle/>
          <a:p>
            <a:r>
              <a:rPr lang="ru-RU" b="1" dirty="0"/>
              <a:t>Введение: профессиональная значимость</a:t>
            </a:r>
          </a:p>
        </p:txBody>
      </p:sp>
      <p:sp>
        <p:nvSpPr>
          <p:cNvPr id="2" name="TextBox 1">
            <a:extLst>
              <a:ext uri="{FF2B5EF4-FFF2-40B4-BE49-F238E27FC236}">
                <a16:creationId xmlns:a16="http://schemas.microsoft.com/office/drawing/2014/main" id="{1C728147-D05C-9370-0489-52022963EBFD}"/>
              </a:ext>
            </a:extLst>
          </p:cNvPr>
          <p:cNvSpPr txBox="1"/>
          <p:nvPr/>
        </p:nvSpPr>
        <p:spPr>
          <a:xfrm>
            <a:off x="7576311" y="2224815"/>
            <a:ext cx="3558010" cy="646331"/>
          </a:xfrm>
          <a:prstGeom prst="rect">
            <a:avLst/>
          </a:prstGeom>
          <a:noFill/>
        </p:spPr>
        <p:txBody>
          <a:bodyPr wrap="square" rtlCol="0">
            <a:spAutoFit/>
          </a:bodyPr>
          <a:lstStyle/>
          <a:p>
            <a:pPr algn="ctr"/>
            <a:r>
              <a:rPr lang="ru-RU" sz="3600" b="1" dirty="0">
                <a:solidFill>
                  <a:schemeClr val="tx2">
                    <a:lumMod val="90000"/>
                    <a:lumOff val="10000"/>
                  </a:schemeClr>
                </a:solidFill>
                <a:latin typeface="HSE Sans" panose="02000000000000000000"/>
              </a:rPr>
              <a:t>ПРАКТИЧЕСКАЯ</a:t>
            </a:r>
            <a:endParaRPr lang="ru-RU" sz="3600" b="1" dirty="0">
              <a:solidFill>
                <a:schemeClr val="tx2">
                  <a:lumMod val="90000"/>
                  <a:lumOff val="10000"/>
                </a:schemeClr>
              </a:solidFill>
            </a:endParaRPr>
          </a:p>
        </p:txBody>
      </p:sp>
      <p:sp>
        <p:nvSpPr>
          <p:cNvPr id="3" name="TextBox 2">
            <a:extLst>
              <a:ext uri="{FF2B5EF4-FFF2-40B4-BE49-F238E27FC236}">
                <a16:creationId xmlns:a16="http://schemas.microsoft.com/office/drawing/2014/main" id="{75246D11-C6B6-8E03-6590-F3A096CDD739}"/>
              </a:ext>
            </a:extLst>
          </p:cNvPr>
          <p:cNvSpPr txBox="1"/>
          <p:nvPr/>
        </p:nvSpPr>
        <p:spPr>
          <a:xfrm>
            <a:off x="825660" y="2224814"/>
            <a:ext cx="4439707" cy="646331"/>
          </a:xfrm>
          <a:prstGeom prst="rect">
            <a:avLst/>
          </a:prstGeom>
          <a:noFill/>
        </p:spPr>
        <p:txBody>
          <a:bodyPr wrap="square" rtlCol="0">
            <a:spAutoFit/>
          </a:bodyPr>
          <a:lstStyle/>
          <a:p>
            <a:pPr algn="ctr"/>
            <a:r>
              <a:rPr lang="ru-RU" sz="3600" b="1" dirty="0">
                <a:solidFill>
                  <a:schemeClr val="tx2">
                    <a:lumMod val="90000"/>
                    <a:lumOff val="10000"/>
                  </a:schemeClr>
                </a:solidFill>
              </a:rPr>
              <a:t>ТЕОРЕТИЧЕСКАЯ</a:t>
            </a:r>
          </a:p>
        </p:txBody>
      </p:sp>
      <p:sp>
        <p:nvSpPr>
          <p:cNvPr id="4" name="TextBox 3">
            <a:extLst>
              <a:ext uri="{FF2B5EF4-FFF2-40B4-BE49-F238E27FC236}">
                <a16:creationId xmlns:a16="http://schemas.microsoft.com/office/drawing/2014/main" id="{EE6BA955-DAB6-02D2-FB23-206ED67E40D3}"/>
              </a:ext>
            </a:extLst>
          </p:cNvPr>
          <p:cNvSpPr txBox="1"/>
          <p:nvPr/>
        </p:nvSpPr>
        <p:spPr>
          <a:xfrm>
            <a:off x="424683" y="3057525"/>
            <a:ext cx="5091377" cy="1815882"/>
          </a:xfrm>
          <a:prstGeom prst="rect">
            <a:avLst/>
          </a:prstGeom>
          <a:noFill/>
        </p:spPr>
        <p:txBody>
          <a:bodyPr wrap="square" rtlCol="0">
            <a:spAutoFit/>
          </a:bodyPr>
          <a:lstStyle/>
          <a:p>
            <a:pPr marL="285750" indent="-285750">
              <a:buFont typeface="Wingdings" panose="05000000000000000000" pitchFamily="2" charset="2"/>
              <a:buChar char="§"/>
            </a:pPr>
            <a:r>
              <a:rPr lang="ru-RU" sz="1400" dirty="0">
                <a:latin typeface="HSE Sans" panose="02000000000000000000"/>
              </a:rPr>
              <a:t>Вносит свой вклад в эмпирическую проверку критериев релевантности и избыточности, предложенных Александром Лариным (2016)</a:t>
            </a:r>
          </a:p>
          <a:p>
            <a:pPr marL="285750" indent="-285750">
              <a:buFont typeface="Wingdings" panose="05000000000000000000" pitchFamily="2" charset="2"/>
              <a:buChar char="§"/>
            </a:pPr>
            <a:r>
              <a:rPr lang="ru-RU" sz="1400" dirty="0">
                <a:latin typeface="HSE Sans" panose="02000000000000000000"/>
              </a:rPr>
              <a:t>Расширяет интерпретацию выбора моментных условий до идентификации информационного поля агента</a:t>
            </a:r>
          </a:p>
          <a:p>
            <a:pPr marL="285750" indent="-285750">
              <a:buFont typeface="Wingdings" panose="05000000000000000000" pitchFamily="2" charset="2"/>
              <a:buChar char="§"/>
            </a:pPr>
            <a:r>
              <a:rPr lang="ru-RU" sz="1400" dirty="0">
                <a:latin typeface="HSE Sans" panose="02000000000000000000"/>
              </a:rPr>
              <a:t>Укрепляет связь между статистической идентификацией и экономической интерпретацией в нелинейных моделях GMM.</a:t>
            </a:r>
            <a:endParaRPr lang="ru-RU" sz="1400" dirty="0"/>
          </a:p>
        </p:txBody>
      </p:sp>
      <p:sp>
        <p:nvSpPr>
          <p:cNvPr id="13" name="TextBox 12">
            <a:extLst>
              <a:ext uri="{FF2B5EF4-FFF2-40B4-BE49-F238E27FC236}">
                <a16:creationId xmlns:a16="http://schemas.microsoft.com/office/drawing/2014/main" id="{F0692D46-AFFF-7103-95C3-746F4C3C4948}"/>
              </a:ext>
            </a:extLst>
          </p:cNvPr>
          <p:cNvSpPr txBox="1"/>
          <p:nvPr/>
        </p:nvSpPr>
        <p:spPr>
          <a:xfrm>
            <a:off x="6943316" y="3057525"/>
            <a:ext cx="4824001" cy="2462213"/>
          </a:xfrm>
          <a:prstGeom prst="rect">
            <a:avLst/>
          </a:prstGeom>
          <a:noFill/>
        </p:spPr>
        <p:txBody>
          <a:bodyPr wrap="square">
            <a:spAutoFit/>
          </a:bodyPr>
          <a:lstStyle/>
          <a:p>
            <a:pPr marL="285750" indent="-285750">
              <a:buFont typeface="Wingdings" panose="05000000000000000000" pitchFamily="2" charset="2"/>
              <a:buChar char="§"/>
            </a:pPr>
            <a:r>
              <a:rPr lang="ru-RU" sz="1400" dirty="0"/>
              <a:t>Предлагает вычислительный фреймворк, который обеспечивает работоспособность тестов на релевантность и избыточность и универсально применим в условиях GMM.</a:t>
            </a:r>
          </a:p>
          <a:p>
            <a:pPr marL="285750" indent="-285750">
              <a:buFont typeface="Wingdings" panose="05000000000000000000" pitchFamily="2" charset="2"/>
              <a:buChar char="§"/>
            </a:pPr>
            <a:r>
              <a:rPr lang="ru-RU" sz="1400" dirty="0"/>
              <a:t>Уменьшает зависимость от выбора специальных инструментов в прикладных макроэкономических моделях.</a:t>
            </a:r>
          </a:p>
          <a:p>
            <a:pPr marL="285750" indent="-285750">
              <a:buFont typeface="Wingdings" panose="05000000000000000000" pitchFamily="2" charset="2"/>
              <a:buChar char="§"/>
            </a:pPr>
            <a:r>
              <a:rPr lang="ru-RU" sz="1400" dirty="0"/>
              <a:t>Обеспечивает основу для определения того, на какие макроэкономические факторы опираются агенты при принятии решений о потреблении, что может иметь важность для </a:t>
            </a:r>
            <a:r>
              <a:rPr lang="en-US" sz="1400" dirty="0"/>
              <a:t>policy implication</a:t>
            </a:r>
            <a:r>
              <a:rPr lang="ru-RU" sz="1400" dirty="0"/>
              <a:t>.</a:t>
            </a:r>
          </a:p>
        </p:txBody>
      </p:sp>
    </p:spTree>
    <p:extLst>
      <p:ext uri="{BB962C8B-B14F-4D97-AF65-F5344CB8AC3E}">
        <p14:creationId xmlns:p14="http://schemas.microsoft.com/office/powerpoint/2010/main" val="2417532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p:txBody>
          <a:bodyPr/>
          <a:lstStyle/>
          <a:p>
            <a:r>
              <a:rPr lang="ru-RU" b="1" dirty="0"/>
              <a:t>Обзор литературы: основы </a:t>
            </a:r>
            <a:r>
              <a:rPr lang="en-US" b="1" dirty="0" err="1"/>
              <a:t>gmm</a:t>
            </a:r>
            <a:endParaRPr lang="ru-RU" b="1" dirty="0"/>
          </a:p>
        </p:txBody>
      </p:sp>
      <p:pic>
        <p:nvPicPr>
          <p:cNvPr id="10" name="Рисунок 9">
            <a:extLst>
              <a:ext uri="{FF2B5EF4-FFF2-40B4-BE49-F238E27FC236}">
                <a16:creationId xmlns:a16="http://schemas.microsoft.com/office/drawing/2014/main" id="{D8811E95-DED9-7818-BEB6-92B6F8C7664F}"/>
              </a:ext>
            </a:extLst>
          </p:cNvPr>
          <p:cNvPicPr>
            <a:picLocks noChangeAspect="1"/>
          </p:cNvPicPr>
          <p:nvPr/>
        </p:nvPicPr>
        <p:blipFill>
          <a:blip r:embed="rId3"/>
          <a:stretch>
            <a:fillRect/>
          </a:stretch>
        </p:blipFill>
        <p:spPr>
          <a:xfrm>
            <a:off x="478212" y="2020576"/>
            <a:ext cx="1841632" cy="2855668"/>
          </a:xfrm>
          <a:prstGeom prst="rect">
            <a:avLst/>
          </a:prstGeom>
          <a:ln w="19050">
            <a:solidFill>
              <a:srgbClr val="FFC000"/>
            </a:solidFill>
          </a:ln>
          <a:effectLst>
            <a:glow rad="101600">
              <a:schemeClr val="accent5">
                <a:satMod val="175000"/>
                <a:alpha val="40000"/>
              </a:schemeClr>
            </a:glow>
          </a:effectLst>
        </p:spPr>
      </p:pic>
      <p:pic>
        <p:nvPicPr>
          <p:cNvPr id="12" name="Рисунок 11">
            <a:extLst>
              <a:ext uri="{FF2B5EF4-FFF2-40B4-BE49-F238E27FC236}">
                <a16:creationId xmlns:a16="http://schemas.microsoft.com/office/drawing/2014/main" id="{06897B97-27ED-79A6-3F31-7A4356090FB2}"/>
              </a:ext>
            </a:extLst>
          </p:cNvPr>
          <p:cNvPicPr>
            <a:picLocks noChangeAspect="1"/>
          </p:cNvPicPr>
          <p:nvPr/>
        </p:nvPicPr>
        <p:blipFill>
          <a:blip r:embed="rId4"/>
          <a:stretch>
            <a:fillRect/>
          </a:stretch>
        </p:blipFill>
        <p:spPr>
          <a:xfrm>
            <a:off x="9748747" y="1841987"/>
            <a:ext cx="1965041" cy="3034257"/>
          </a:xfrm>
          <a:prstGeom prst="rect">
            <a:avLst/>
          </a:prstGeom>
          <a:ln w="19050">
            <a:solidFill>
              <a:srgbClr val="FFC000"/>
            </a:solidFill>
          </a:ln>
          <a:effectLst>
            <a:glow rad="101600">
              <a:schemeClr val="accent5">
                <a:satMod val="175000"/>
                <a:alpha val="40000"/>
              </a:schemeClr>
            </a:glow>
          </a:effectLst>
        </p:spPr>
      </p:pic>
      <p:sp>
        <p:nvSpPr>
          <p:cNvPr id="16" name="TextBox 15">
            <a:extLst>
              <a:ext uri="{FF2B5EF4-FFF2-40B4-BE49-F238E27FC236}">
                <a16:creationId xmlns:a16="http://schemas.microsoft.com/office/drawing/2014/main" id="{D76F7AC7-92FE-38E7-B6CC-A5C8022D3E5B}"/>
              </a:ext>
            </a:extLst>
          </p:cNvPr>
          <p:cNvSpPr txBox="1"/>
          <p:nvPr/>
        </p:nvSpPr>
        <p:spPr>
          <a:xfrm>
            <a:off x="2481263" y="2839548"/>
            <a:ext cx="6789486" cy="1384995"/>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Hansen, L. P. (1982). Large sample properties of generalized method of moments estimators</a:t>
            </a:r>
            <a:r>
              <a:rPr lang="en-US" sz="1400" kern="100" dirty="0">
                <a:latin typeface="HSE Sans" panose="0200000000000000000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
            </a:pPr>
            <a:r>
              <a:rPr lang="ru-RU" sz="1400" kern="100" dirty="0">
                <a:latin typeface="HSE Sans" panose="02000000000000000000"/>
                <a:ea typeface="Aptos" panose="020B0004020202020204" pitchFamily="34" charset="0"/>
                <a:cs typeface="Times New Roman" panose="02020603050405020304" pitchFamily="18" charset="0"/>
              </a:rPr>
              <a:t>Что такое GMM: оценка с помощью выборочных аналогов ортогональности</a:t>
            </a:r>
          </a:p>
          <a:p>
            <a:pPr marL="285750" indent="-285750">
              <a:buFont typeface="Wingdings" panose="05000000000000000000" pitchFamily="2" charset="2"/>
              <a:buChar char="§"/>
            </a:pPr>
            <a:r>
              <a:rPr lang="ru-RU" sz="1400" kern="100" dirty="0">
                <a:latin typeface="HSE Sans" panose="02000000000000000000"/>
                <a:ea typeface="Aptos" panose="020B0004020202020204" pitchFamily="34" charset="0"/>
                <a:cs typeface="Times New Roman" panose="02020603050405020304" pitchFamily="18" charset="0"/>
              </a:rPr>
              <a:t>Роль моментных условий</a:t>
            </a:r>
          </a:p>
          <a:p>
            <a:pPr marL="285750" indent="-285750">
              <a:buFont typeface="Wingdings" panose="05000000000000000000" pitchFamily="2" charset="2"/>
              <a:buChar char="§"/>
            </a:pPr>
            <a:r>
              <a:rPr lang="ru-RU" sz="1400" kern="100" dirty="0">
                <a:latin typeface="HSE Sans" panose="02000000000000000000"/>
                <a:ea typeface="Aptos" panose="020B0004020202020204" pitchFamily="34" charset="0"/>
                <a:cs typeface="Times New Roman" panose="02020603050405020304" pitchFamily="18" charset="0"/>
              </a:rPr>
              <a:t>Ключевые свойства: состоятельность, асимптотическая нормальность при стационарности/эргодичности</a:t>
            </a:r>
            <a:endParaRPr lang="ru-RU" sz="1400" dirty="0"/>
          </a:p>
        </p:txBody>
      </p:sp>
      <p:sp>
        <p:nvSpPr>
          <p:cNvPr id="18" name="TextBox 17">
            <a:extLst>
              <a:ext uri="{FF2B5EF4-FFF2-40B4-BE49-F238E27FC236}">
                <a16:creationId xmlns:a16="http://schemas.microsoft.com/office/drawing/2014/main" id="{A75C6E17-B152-F945-B134-9FFA004CC974}"/>
              </a:ext>
            </a:extLst>
          </p:cNvPr>
          <p:cNvSpPr txBox="1"/>
          <p:nvPr/>
        </p:nvSpPr>
        <p:spPr>
          <a:xfrm>
            <a:off x="3979171" y="4835880"/>
            <a:ext cx="6096000" cy="954107"/>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Hansen, L. P., &amp; Singleton, K. J. (1982). Generalized instrumental variables estimation of nonlinear rational expectations models</a:t>
            </a:r>
            <a:r>
              <a:rPr lang="ru-RU" sz="1400" kern="100" dirty="0">
                <a:effectLst/>
                <a:latin typeface="HSE Sans" panose="0200000000000000000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
            </a:pPr>
            <a:r>
              <a:rPr lang="ru-RU" sz="1400" kern="100" dirty="0">
                <a:latin typeface="HSE Sans" panose="02000000000000000000"/>
                <a:ea typeface="Aptos" panose="020B0004020202020204" pitchFamily="34" charset="0"/>
                <a:cs typeface="Times New Roman" panose="02020603050405020304" pitchFamily="18" charset="0"/>
              </a:rPr>
              <a:t>Уравнение потребления Эйлера</a:t>
            </a:r>
            <a:endParaRPr lang="en-US" sz="1400" kern="100" dirty="0">
              <a:latin typeface="HSE Sans" panose="02000000000000000000"/>
              <a:ea typeface="Aptos" panose="020B0004020202020204" pitchFamily="34" charset="0"/>
              <a:cs typeface="Times New Roman" panose="02020603050405020304" pitchFamily="18" charset="0"/>
            </a:endParaRPr>
          </a:p>
          <a:p>
            <a:pPr marL="285750" indent="-285750">
              <a:buFont typeface="Wingdings" panose="05000000000000000000" pitchFamily="2" charset="2"/>
              <a:buChar char="§"/>
            </a:pPr>
            <a:r>
              <a:rPr lang="ru-RU" sz="1400" kern="100" dirty="0">
                <a:effectLst/>
                <a:latin typeface="HSE Sans" panose="02000000000000000000"/>
                <a:ea typeface="Aptos" panose="020B0004020202020204" pitchFamily="34" charset="0"/>
                <a:cs typeface="Times New Roman" panose="02020603050405020304" pitchFamily="18" charset="0"/>
              </a:rPr>
              <a:t>Функция полезности</a:t>
            </a:r>
            <a:endParaRPr lang="en-US" sz="1400" kern="100" dirty="0">
              <a:effectLst/>
              <a:latin typeface="HSE Sans" panose="02000000000000000000"/>
              <a:ea typeface="Aptos" panose="020B0004020202020204" pitchFamily="34" charset="0"/>
              <a:cs typeface="Times New Roman" panose="02020603050405020304" pitchFamily="18" charset="0"/>
            </a:endParaRPr>
          </a:p>
        </p:txBody>
      </p:sp>
      <p:pic>
        <p:nvPicPr>
          <p:cNvPr id="20" name="Рисунок 19">
            <a:extLst>
              <a:ext uri="{FF2B5EF4-FFF2-40B4-BE49-F238E27FC236}">
                <a16:creationId xmlns:a16="http://schemas.microsoft.com/office/drawing/2014/main" id="{49DA2E09-D2CE-8BC7-13BB-FB4995B32075}"/>
              </a:ext>
            </a:extLst>
          </p:cNvPr>
          <p:cNvPicPr>
            <a:picLocks noChangeAspect="1"/>
          </p:cNvPicPr>
          <p:nvPr/>
        </p:nvPicPr>
        <p:blipFill>
          <a:blip r:embed="rId5"/>
          <a:stretch>
            <a:fillRect/>
          </a:stretch>
        </p:blipFill>
        <p:spPr>
          <a:xfrm>
            <a:off x="2595493" y="2007479"/>
            <a:ext cx="4567670" cy="813901"/>
          </a:xfrm>
          <a:prstGeom prst="rect">
            <a:avLst/>
          </a:prstGeom>
        </p:spPr>
      </p:pic>
      <p:pic>
        <p:nvPicPr>
          <p:cNvPr id="22" name="Рисунок 21">
            <a:extLst>
              <a:ext uri="{FF2B5EF4-FFF2-40B4-BE49-F238E27FC236}">
                <a16:creationId xmlns:a16="http://schemas.microsoft.com/office/drawing/2014/main" id="{F8034B4B-05BC-8C42-134A-0C72E5330F7C}"/>
              </a:ext>
            </a:extLst>
          </p:cNvPr>
          <p:cNvPicPr>
            <a:picLocks noChangeAspect="1"/>
          </p:cNvPicPr>
          <p:nvPr/>
        </p:nvPicPr>
        <p:blipFill>
          <a:blip r:embed="rId6"/>
          <a:stretch>
            <a:fillRect/>
          </a:stretch>
        </p:blipFill>
        <p:spPr>
          <a:xfrm>
            <a:off x="2522204" y="4235747"/>
            <a:ext cx="3573796" cy="537582"/>
          </a:xfrm>
          <a:prstGeom prst="rect">
            <a:avLst/>
          </a:prstGeom>
        </p:spPr>
      </p:pic>
      <p:pic>
        <p:nvPicPr>
          <p:cNvPr id="24" name="Рисунок 23">
            <a:extLst>
              <a:ext uri="{FF2B5EF4-FFF2-40B4-BE49-F238E27FC236}">
                <a16:creationId xmlns:a16="http://schemas.microsoft.com/office/drawing/2014/main" id="{3E29BD42-68C8-6026-5089-A91FC30419AD}"/>
              </a:ext>
            </a:extLst>
          </p:cNvPr>
          <p:cNvPicPr>
            <a:picLocks noChangeAspect="1"/>
          </p:cNvPicPr>
          <p:nvPr/>
        </p:nvPicPr>
        <p:blipFill>
          <a:blip r:embed="rId7"/>
          <a:stretch>
            <a:fillRect/>
          </a:stretch>
        </p:blipFill>
        <p:spPr>
          <a:xfrm>
            <a:off x="9093257" y="5178256"/>
            <a:ext cx="2784592" cy="872140"/>
          </a:xfrm>
          <a:prstGeom prst="rect">
            <a:avLst/>
          </a:prstGeom>
        </p:spPr>
      </p:pic>
      <p:pic>
        <p:nvPicPr>
          <p:cNvPr id="3" name="Рисунок 2">
            <a:extLst>
              <a:ext uri="{FF2B5EF4-FFF2-40B4-BE49-F238E27FC236}">
                <a16:creationId xmlns:a16="http://schemas.microsoft.com/office/drawing/2014/main" id="{D59BD7CA-2E3C-E2B9-CE0A-C13842E14E7E}"/>
              </a:ext>
            </a:extLst>
          </p:cNvPr>
          <p:cNvPicPr>
            <a:picLocks noChangeAspect="1"/>
          </p:cNvPicPr>
          <p:nvPr/>
        </p:nvPicPr>
        <p:blipFill>
          <a:blip r:embed="rId8"/>
          <a:stretch>
            <a:fillRect/>
          </a:stretch>
        </p:blipFill>
        <p:spPr>
          <a:xfrm>
            <a:off x="9113762" y="5947279"/>
            <a:ext cx="1371791" cy="724001"/>
          </a:xfrm>
          <a:prstGeom prst="rect">
            <a:avLst/>
          </a:prstGeom>
        </p:spPr>
      </p:pic>
    </p:spTree>
    <p:extLst>
      <p:ext uri="{BB962C8B-B14F-4D97-AF65-F5344CB8AC3E}">
        <p14:creationId xmlns:p14="http://schemas.microsoft.com/office/powerpoint/2010/main" val="144753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7" y="1447790"/>
            <a:ext cx="10513652" cy="777025"/>
          </a:xfrm>
        </p:spPr>
        <p:txBody>
          <a:bodyPr>
            <a:noAutofit/>
          </a:bodyPr>
          <a:lstStyle/>
          <a:p>
            <a:r>
              <a:rPr lang="ru-RU" b="1" dirty="0"/>
              <a:t>Обзор литературы: ограничения </a:t>
            </a:r>
            <a:r>
              <a:rPr lang="ru-RU" b="1" dirty="0" err="1"/>
              <a:t>gmm</a:t>
            </a:r>
            <a:r>
              <a:rPr lang="ru-RU" b="1" dirty="0"/>
              <a:t> в контексте моментных условий</a:t>
            </a:r>
          </a:p>
        </p:txBody>
      </p:sp>
      <p:pic>
        <p:nvPicPr>
          <p:cNvPr id="3" name="Рисунок 2">
            <a:extLst>
              <a:ext uri="{FF2B5EF4-FFF2-40B4-BE49-F238E27FC236}">
                <a16:creationId xmlns:a16="http://schemas.microsoft.com/office/drawing/2014/main" id="{8DFC374F-F457-66F8-1571-BFB729A17F0B}"/>
              </a:ext>
            </a:extLst>
          </p:cNvPr>
          <p:cNvPicPr>
            <a:picLocks noChangeAspect="1"/>
          </p:cNvPicPr>
          <p:nvPr/>
        </p:nvPicPr>
        <p:blipFill>
          <a:blip r:embed="rId3"/>
          <a:stretch>
            <a:fillRect/>
          </a:stretch>
        </p:blipFill>
        <p:spPr>
          <a:xfrm>
            <a:off x="801769" y="2499814"/>
            <a:ext cx="1787362" cy="2910396"/>
          </a:xfrm>
          <a:prstGeom prst="rect">
            <a:avLst/>
          </a:prstGeom>
          <a:ln w="28575">
            <a:solidFill>
              <a:srgbClr val="FFC000"/>
            </a:solidFill>
          </a:ln>
          <a:effectLst>
            <a:glow rad="101600">
              <a:schemeClr val="accent5">
                <a:satMod val="175000"/>
                <a:alpha val="40000"/>
              </a:schemeClr>
            </a:glow>
          </a:effectLst>
        </p:spPr>
      </p:pic>
      <p:sp>
        <p:nvSpPr>
          <p:cNvPr id="9" name="TextBox 8">
            <a:extLst>
              <a:ext uri="{FF2B5EF4-FFF2-40B4-BE49-F238E27FC236}">
                <a16:creationId xmlns:a16="http://schemas.microsoft.com/office/drawing/2014/main" id="{0E385768-C563-B589-C4BA-7598440AE0A5}"/>
              </a:ext>
            </a:extLst>
          </p:cNvPr>
          <p:cNvSpPr txBox="1"/>
          <p:nvPr/>
        </p:nvSpPr>
        <p:spPr>
          <a:xfrm>
            <a:off x="2914650" y="2499814"/>
            <a:ext cx="6096000" cy="2031325"/>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Han, C., &amp; Peter C. B. Phillips. (2006). GMM with Many Moment Conditions</a:t>
            </a:r>
            <a:r>
              <a:rPr lang="en-US" sz="1400" kern="100" dirty="0">
                <a:latin typeface="HSE Sans" panose="02000000000000000000"/>
                <a:ea typeface="Aptos" panose="020B0004020202020204" pitchFamily="34" charset="0"/>
                <a:cs typeface="Times New Roman" panose="02020603050405020304" pitchFamily="18" charset="0"/>
              </a:rPr>
              <a:t>:</a:t>
            </a:r>
          </a:p>
          <a:p>
            <a:endParaRPr lang="en-US" sz="1400" kern="100" dirty="0">
              <a:latin typeface="HSE Sans" panose="02000000000000000000"/>
              <a:ea typeface="Aptos" panose="020B0004020202020204" pitchFamily="34" charset="0"/>
              <a:cs typeface="Times New Roman" panose="02020603050405020304" pitchFamily="18" charset="0"/>
            </a:endParaRPr>
          </a:p>
          <a:p>
            <a:pPr marL="285750" indent="-285750">
              <a:buFont typeface="Wingdings" panose="05000000000000000000" pitchFamily="2" charset="2"/>
              <a:buChar char="§"/>
            </a:pPr>
            <a:r>
              <a:rPr lang="ru-RU" sz="1400" dirty="0">
                <a:latin typeface="HSE Sans" panose="02000000000000000000"/>
              </a:rPr>
              <a:t>Проблема большого числа моментов и слабых инструментов</a:t>
            </a:r>
          </a:p>
          <a:p>
            <a:pPr marL="285750" indent="-285750">
              <a:buFont typeface="Wingdings" panose="05000000000000000000" pitchFamily="2" charset="2"/>
              <a:buChar char="§"/>
            </a:pPr>
            <a:r>
              <a:rPr lang="ru-RU" sz="1400" dirty="0">
                <a:latin typeface="HSE Sans" panose="02000000000000000000"/>
              </a:rPr>
              <a:t>Смещение оценок, снижение эффективности и нарушение стандартной асимптотики</a:t>
            </a:r>
          </a:p>
          <a:p>
            <a:pPr marL="285750" indent="-285750">
              <a:buFont typeface="Wingdings" panose="05000000000000000000" pitchFamily="2" charset="2"/>
              <a:buChar char="§"/>
            </a:pPr>
            <a:r>
              <a:rPr lang="ru-RU" sz="1400" dirty="0">
                <a:latin typeface="HSE Sans" panose="02000000000000000000"/>
              </a:rPr>
              <a:t>HAC и автокорреляция решают некоторые проблемы, но не устраняют слабую информативность моментов</a:t>
            </a:r>
          </a:p>
          <a:p>
            <a:pPr marL="285750" indent="-285750">
              <a:buFont typeface="Wingdings" panose="05000000000000000000" pitchFamily="2" charset="2"/>
              <a:buChar char="§"/>
            </a:pPr>
            <a:r>
              <a:rPr lang="ru-RU" sz="1400" dirty="0">
                <a:latin typeface="HSE Sans" panose="02000000000000000000"/>
              </a:rPr>
              <a:t>Необходимо диагностировать релевантность/избыточность каждого момента</a:t>
            </a:r>
            <a:endParaRPr lang="ru-RU" sz="1400" dirty="0"/>
          </a:p>
        </p:txBody>
      </p:sp>
      <p:pic>
        <p:nvPicPr>
          <p:cNvPr id="7170" name="Picture 2">
            <a:extLst>
              <a:ext uri="{FF2B5EF4-FFF2-40B4-BE49-F238E27FC236}">
                <a16:creationId xmlns:a16="http://schemas.microsoft.com/office/drawing/2014/main" id="{880AB61F-CCA6-2E35-8763-C8252332B3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5419" y="4590695"/>
            <a:ext cx="2437744" cy="163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556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7" y="1447790"/>
            <a:ext cx="9310577" cy="777025"/>
          </a:xfrm>
        </p:spPr>
        <p:txBody>
          <a:bodyPr>
            <a:normAutofit/>
          </a:bodyPr>
          <a:lstStyle/>
          <a:p>
            <a:r>
              <a:rPr lang="en-US" b="1" dirty="0"/>
              <a:t>Literature Review: attempts to select moment conditions</a:t>
            </a:r>
            <a:br>
              <a:rPr lang="en-US" b="1" dirty="0"/>
            </a:br>
            <a:endParaRPr lang="ru-RU" b="1" dirty="0"/>
          </a:p>
        </p:txBody>
      </p:sp>
      <p:pic>
        <p:nvPicPr>
          <p:cNvPr id="3" name="Рисунок 2">
            <a:extLst>
              <a:ext uri="{FF2B5EF4-FFF2-40B4-BE49-F238E27FC236}">
                <a16:creationId xmlns:a16="http://schemas.microsoft.com/office/drawing/2014/main" id="{DCDA3EF6-99BB-D72C-93F9-BB4408DEEDA2}"/>
              </a:ext>
            </a:extLst>
          </p:cNvPr>
          <p:cNvPicPr>
            <a:picLocks noChangeAspect="1"/>
          </p:cNvPicPr>
          <p:nvPr/>
        </p:nvPicPr>
        <p:blipFill>
          <a:blip r:embed="rId3"/>
          <a:stretch>
            <a:fillRect/>
          </a:stretch>
        </p:blipFill>
        <p:spPr>
          <a:xfrm>
            <a:off x="749172" y="2038360"/>
            <a:ext cx="1683006" cy="2209800"/>
          </a:xfrm>
          <a:prstGeom prst="rect">
            <a:avLst/>
          </a:prstGeom>
          <a:ln w="28575">
            <a:solidFill>
              <a:srgbClr val="FFC000"/>
            </a:solidFill>
          </a:ln>
          <a:effectLst>
            <a:glow rad="101600">
              <a:schemeClr val="accent5">
                <a:satMod val="175000"/>
                <a:alpha val="40000"/>
              </a:schemeClr>
            </a:glow>
          </a:effectLst>
        </p:spPr>
      </p:pic>
      <p:pic>
        <p:nvPicPr>
          <p:cNvPr id="9" name="Рисунок 8">
            <a:extLst>
              <a:ext uri="{FF2B5EF4-FFF2-40B4-BE49-F238E27FC236}">
                <a16:creationId xmlns:a16="http://schemas.microsoft.com/office/drawing/2014/main" id="{5B8EBC70-3BB3-6076-F1F8-D9E75791430F}"/>
              </a:ext>
            </a:extLst>
          </p:cNvPr>
          <p:cNvPicPr>
            <a:picLocks noChangeAspect="1"/>
          </p:cNvPicPr>
          <p:nvPr/>
        </p:nvPicPr>
        <p:blipFill>
          <a:blip r:embed="rId4"/>
          <a:stretch>
            <a:fillRect/>
          </a:stretch>
        </p:blipFill>
        <p:spPr>
          <a:xfrm>
            <a:off x="2769250" y="4124335"/>
            <a:ext cx="1379826" cy="2324100"/>
          </a:xfrm>
          <a:prstGeom prst="rect">
            <a:avLst/>
          </a:prstGeom>
          <a:ln w="28575">
            <a:solidFill>
              <a:srgbClr val="FFC000"/>
            </a:solidFill>
          </a:ln>
          <a:effectLst>
            <a:glow rad="101600">
              <a:schemeClr val="accent5">
                <a:satMod val="175000"/>
                <a:alpha val="40000"/>
              </a:schemeClr>
            </a:glow>
          </a:effectLst>
        </p:spPr>
      </p:pic>
      <p:sp>
        <p:nvSpPr>
          <p:cNvPr id="11" name="TextBox 10">
            <a:extLst>
              <a:ext uri="{FF2B5EF4-FFF2-40B4-BE49-F238E27FC236}">
                <a16:creationId xmlns:a16="http://schemas.microsoft.com/office/drawing/2014/main" id="{82E56563-4B09-B398-8218-6506679ECC0F}"/>
              </a:ext>
            </a:extLst>
          </p:cNvPr>
          <p:cNvSpPr txBox="1"/>
          <p:nvPr/>
        </p:nvSpPr>
        <p:spPr>
          <a:xfrm>
            <a:off x="2595453" y="2038360"/>
            <a:ext cx="6096000" cy="954107"/>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Cheng, X., &amp; Liao, Z. (2015). Select the valid and relevant moments: An information-based LASSO for GMM with many moments</a:t>
            </a:r>
            <a:r>
              <a:rPr lang="ru-RU" sz="1400" kern="100" dirty="0">
                <a:effectLst/>
                <a:latin typeface="HSE Sans" panose="0200000000000000000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
            </a:pPr>
            <a:r>
              <a:rPr lang="ru-RU" sz="1400" kern="100" dirty="0">
                <a:effectLst/>
                <a:latin typeface="HSE Sans" panose="02000000000000000000"/>
                <a:ea typeface="Aptos" panose="020B0004020202020204" pitchFamily="34" charset="0"/>
                <a:cs typeface="Times New Roman" panose="02020603050405020304" pitchFamily="18" charset="0"/>
              </a:rPr>
              <a:t>Регуляризация для автоматического выбора условий момента</a:t>
            </a:r>
          </a:p>
          <a:p>
            <a:endParaRPr lang="ru-RU" sz="1400" dirty="0"/>
          </a:p>
        </p:txBody>
      </p:sp>
      <p:sp>
        <p:nvSpPr>
          <p:cNvPr id="13" name="TextBox 12">
            <a:extLst>
              <a:ext uri="{FF2B5EF4-FFF2-40B4-BE49-F238E27FC236}">
                <a16:creationId xmlns:a16="http://schemas.microsoft.com/office/drawing/2014/main" id="{F81482A8-FFA1-5444-EF5A-119AB98FFD08}"/>
              </a:ext>
            </a:extLst>
          </p:cNvPr>
          <p:cNvSpPr txBox="1"/>
          <p:nvPr/>
        </p:nvSpPr>
        <p:spPr>
          <a:xfrm>
            <a:off x="4424126" y="4095770"/>
            <a:ext cx="6096000" cy="954107"/>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Andrews, D. W. K., &amp; Lu, B. (2001). Consistent model and moment selection procedures for GMM estimation with application to dynamic panel data models</a:t>
            </a:r>
            <a:r>
              <a:rPr lang="en-US" sz="1400" kern="100" dirty="0">
                <a:latin typeface="HSE Sans" panose="0200000000000000000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
            </a:pPr>
            <a:r>
              <a:rPr lang="ru-RU" sz="1400" dirty="0">
                <a:latin typeface="HSE Sans" panose="02000000000000000000"/>
              </a:rPr>
              <a:t>Процедура, основанная на J-тесте с </a:t>
            </a:r>
            <a:r>
              <a:rPr lang="ru-RU" sz="1400" dirty="0" err="1">
                <a:latin typeface="HSE Sans" panose="02000000000000000000"/>
              </a:rPr>
              <a:t>гиперпараметрами</a:t>
            </a:r>
            <a:endParaRPr lang="ru-RU" sz="1400" dirty="0">
              <a:latin typeface="HSE Sans" panose="02000000000000000000"/>
            </a:endParaRPr>
          </a:p>
          <a:p>
            <a:endParaRPr lang="ru-RU" sz="1400" dirty="0"/>
          </a:p>
        </p:txBody>
      </p:sp>
      <p:sp>
        <p:nvSpPr>
          <p:cNvPr id="15" name="TextBox 14">
            <a:extLst>
              <a:ext uri="{FF2B5EF4-FFF2-40B4-BE49-F238E27FC236}">
                <a16:creationId xmlns:a16="http://schemas.microsoft.com/office/drawing/2014/main" id="{A1A1D964-D787-168D-9D89-483B73EF67C6}"/>
              </a:ext>
            </a:extLst>
          </p:cNvPr>
          <p:cNvSpPr txBox="1"/>
          <p:nvPr/>
        </p:nvSpPr>
        <p:spPr>
          <a:xfrm>
            <a:off x="5252676" y="5676126"/>
            <a:ext cx="6096000" cy="738664"/>
          </a:xfrm>
          <a:prstGeom prst="rect">
            <a:avLst/>
          </a:prstGeom>
          <a:noFill/>
          <a:ln w="19050">
            <a:solidFill>
              <a:schemeClr val="tx1"/>
            </a:solidFill>
          </a:ln>
        </p:spPr>
        <p:txBody>
          <a:bodyPr wrap="square">
            <a:spAutoFit/>
          </a:bodyPr>
          <a:lstStyle/>
          <a:p>
            <a:r>
              <a:rPr lang="ru-RU" sz="1400" dirty="0">
                <a:latin typeface="HSE Sans" panose="02000000000000000000"/>
              </a:rPr>
              <a:t>Такие методы направлены на повышение статистической точности, и в них нет места формальным и отдельным концепциям релевантности или избыточности.</a:t>
            </a:r>
            <a:endParaRPr lang="ru-RU" sz="1400" dirty="0"/>
          </a:p>
        </p:txBody>
      </p:sp>
    </p:spTree>
    <p:extLst>
      <p:ext uri="{BB962C8B-B14F-4D97-AF65-F5344CB8AC3E}">
        <p14:creationId xmlns:p14="http://schemas.microsoft.com/office/powerpoint/2010/main" val="1330788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11138340" cy="777025"/>
          </a:xfrm>
        </p:spPr>
        <p:txBody>
          <a:bodyPr>
            <a:normAutofit/>
          </a:bodyPr>
          <a:lstStyle/>
          <a:p>
            <a:r>
              <a:rPr lang="ru-RU" b="1" dirty="0"/>
              <a:t>Обзор литературы: тест на релевантность и избыточность моментных условий</a:t>
            </a:r>
          </a:p>
        </p:txBody>
      </p:sp>
      <p:pic>
        <p:nvPicPr>
          <p:cNvPr id="2" name="Рисунок 1">
            <a:extLst>
              <a:ext uri="{FF2B5EF4-FFF2-40B4-BE49-F238E27FC236}">
                <a16:creationId xmlns:a16="http://schemas.microsoft.com/office/drawing/2014/main" id="{3616ECA6-A323-9BC4-7198-F9054761580C}"/>
              </a:ext>
            </a:extLst>
          </p:cNvPr>
          <p:cNvPicPr>
            <a:picLocks noChangeAspect="1"/>
          </p:cNvPicPr>
          <p:nvPr/>
        </p:nvPicPr>
        <p:blipFill>
          <a:blip r:embed="rId3"/>
          <a:stretch>
            <a:fillRect/>
          </a:stretch>
        </p:blipFill>
        <p:spPr>
          <a:xfrm>
            <a:off x="721500" y="2536079"/>
            <a:ext cx="1846150" cy="2627648"/>
          </a:xfrm>
          <a:prstGeom prst="rect">
            <a:avLst/>
          </a:prstGeom>
          <a:ln w="28575">
            <a:solidFill>
              <a:srgbClr val="FFC000"/>
            </a:solidFill>
          </a:ln>
          <a:effectLst>
            <a:glow rad="101600">
              <a:schemeClr val="accent5">
                <a:satMod val="175000"/>
                <a:alpha val="40000"/>
              </a:schemeClr>
            </a:glow>
          </a:effectLst>
        </p:spPr>
      </p:pic>
      <p:sp>
        <p:nvSpPr>
          <p:cNvPr id="4" name="TextBox 3">
            <a:extLst>
              <a:ext uri="{FF2B5EF4-FFF2-40B4-BE49-F238E27FC236}">
                <a16:creationId xmlns:a16="http://schemas.microsoft.com/office/drawing/2014/main" id="{DD756671-E652-48B9-91FB-FB3294EBE6BF}"/>
              </a:ext>
            </a:extLst>
          </p:cNvPr>
          <p:cNvSpPr txBox="1"/>
          <p:nvPr/>
        </p:nvSpPr>
        <p:spPr>
          <a:xfrm>
            <a:off x="2847975" y="2536079"/>
            <a:ext cx="6096000" cy="1169551"/>
          </a:xfrm>
          <a:prstGeom prst="rect">
            <a:avLst/>
          </a:prstGeom>
          <a:noFill/>
        </p:spPr>
        <p:txBody>
          <a:bodyPr wrap="square">
            <a:spAutoFit/>
          </a:bodyPr>
          <a:lstStyle/>
          <a:p>
            <a:r>
              <a:rPr lang="en-US" sz="1400" kern="100" dirty="0">
                <a:effectLst/>
                <a:latin typeface="HSE Sans" panose="02000000000000000000"/>
                <a:ea typeface="Aptos" panose="020B0004020202020204" pitchFamily="34" charset="0"/>
                <a:cs typeface="Times New Roman" panose="02020603050405020304" pitchFamily="18" charset="0"/>
              </a:rPr>
              <a:t>Larin, A. (2016). Tests for relevance and redundancy of moment conditions (Working Paper No. 2877644)</a:t>
            </a:r>
            <a:r>
              <a:rPr lang="ru-RU" sz="1400" kern="100" dirty="0">
                <a:effectLst/>
                <a:latin typeface="HSE Sans" panose="02000000000000000000"/>
                <a:ea typeface="Aptos" panose="020B0004020202020204" pitchFamily="34" charset="0"/>
                <a:cs typeface="Times New Roman" panose="02020603050405020304" pitchFamily="18" charset="0"/>
              </a:rPr>
              <a:t>:</a:t>
            </a:r>
          </a:p>
          <a:p>
            <a:pPr marL="285750" indent="-285750">
              <a:buFont typeface="Wingdings" panose="05000000000000000000" pitchFamily="2" charset="2"/>
              <a:buChar char="§"/>
            </a:pPr>
            <a:r>
              <a:rPr lang="ru-RU" sz="1400" dirty="0">
                <a:latin typeface="HSE Sans" panose="02000000000000000000"/>
              </a:rPr>
              <a:t>Формальные определения релевантности и избыточности</a:t>
            </a:r>
          </a:p>
          <a:p>
            <a:pPr marL="285750" indent="-285750">
              <a:buFont typeface="Wingdings" panose="05000000000000000000" pitchFamily="2" charset="2"/>
              <a:buChar char="§"/>
            </a:pPr>
            <a:r>
              <a:rPr lang="ru-RU" sz="1400" dirty="0">
                <a:latin typeface="HSE Sans" panose="02000000000000000000"/>
              </a:rPr>
              <a:t>Прямая связь с идентификацией, теоретическими свойствами</a:t>
            </a:r>
          </a:p>
          <a:p>
            <a:pPr marL="285750" indent="-285750">
              <a:buFont typeface="Wingdings" panose="05000000000000000000" pitchFamily="2" charset="2"/>
              <a:buChar char="§"/>
            </a:pPr>
            <a:r>
              <a:rPr lang="ru-RU" sz="1400" dirty="0">
                <a:latin typeface="HSE Sans" panose="02000000000000000000"/>
              </a:rPr>
              <a:t>Вопрос о применении на конечной выборке остается открытым</a:t>
            </a:r>
          </a:p>
        </p:txBody>
      </p:sp>
      <p:pic>
        <p:nvPicPr>
          <p:cNvPr id="12" name="Рисунок 11">
            <a:extLst>
              <a:ext uri="{FF2B5EF4-FFF2-40B4-BE49-F238E27FC236}">
                <a16:creationId xmlns:a16="http://schemas.microsoft.com/office/drawing/2014/main" id="{A0377172-4C81-FFCA-15DD-DED02C84CBD0}"/>
              </a:ext>
            </a:extLst>
          </p:cNvPr>
          <p:cNvPicPr>
            <a:picLocks noChangeAspect="1"/>
          </p:cNvPicPr>
          <p:nvPr/>
        </p:nvPicPr>
        <p:blipFill>
          <a:blip r:embed="rId4"/>
          <a:stretch>
            <a:fillRect/>
          </a:stretch>
        </p:blipFill>
        <p:spPr>
          <a:xfrm>
            <a:off x="2847975" y="5048185"/>
            <a:ext cx="3620005" cy="933580"/>
          </a:xfrm>
          <a:prstGeom prst="rect">
            <a:avLst/>
          </a:prstGeom>
        </p:spPr>
      </p:pic>
      <p:pic>
        <p:nvPicPr>
          <p:cNvPr id="14" name="Рисунок 13">
            <a:extLst>
              <a:ext uri="{FF2B5EF4-FFF2-40B4-BE49-F238E27FC236}">
                <a16:creationId xmlns:a16="http://schemas.microsoft.com/office/drawing/2014/main" id="{75037A4C-F1C2-747E-27AA-EF897473B984}"/>
              </a:ext>
            </a:extLst>
          </p:cNvPr>
          <p:cNvPicPr>
            <a:picLocks noChangeAspect="1"/>
          </p:cNvPicPr>
          <p:nvPr/>
        </p:nvPicPr>
        <p:blipFill>
          <a:blip r:embed="rId5"/>
          <a:stretch>
            <a:fillRect/>
          </a:stretch>
        </p:blipFill>
        <p:spPr>
          <a:xfrm>
            <a:off x="2847975" y="3948647"/>
            <a:ext cx="4667645" cy="856521"/>
          </a:xfrm>
          <a:prstGeom prst="rect">
            <a:avLst/>
          </a:prstGeom>
        </p:spPr>
      </p:pic>
    </p:spTree>
    <p:extLst>
      <p:ext uri="{BB962C8B-B14F-4D97-AF65-F5344CB8AC3E}">
        <p14:creationId xmlns:p14="http://schemas.microsoft.com/office/powerpoint/2010/main" val="340518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11138340" cy="777025"/>
          </a:xfrm>
        </p:spPr>
        <p:txBody>
          <a:bodyPr>
            <a:normAutofit/>
          </a:bodyPr>
          <a:lstStyle/>
          <a:p>
            <a:r>
              <a:rPr lang="ru-RU" b="1" dirty="0"/>
              <a:t>Обзор литературы: тест на релевантность и избыточность моментных условий</a:t>
            </a:r>
          </a:p>
        </p:txBody>
      </p:sp>
      <p:pic>
        <p:nvPicPr>
          <p:cNvPr id="9" name="Рисунок 8">
            <a:extLst>
              <a:ext uri="{FF2B5EF4-FFF2-40B4-BE49-F238E27FC236}">
                <a16:creationId xmlns:a16="http://schemas.microsoft.com/office/drawing/2014/main" id="{752538E9-F75F-C172-DE24-C7CF84A30018}"/>
              </a:ext>
            </a:extLst>
          </p:cNvPr>
          <p:cNvPicPr>
            <a:picLocks noChangeAspect="1"/>
          </p:cNvPicPr>
          <p:nvPr/>
        </p:nvPicPr>
        <p:blipFill>
          <a:blip r:embed="rId3"/>
          <a:stretch>
            <a:fillRect/>
          </a:stretch>
        </p:blipFill>
        <p:spPr>
          <a:xfrm>
            <a:off x="585898" y="2444305"/>
            <a:ext cx="8125959" cy="1190791"/>
          </a:xfrm>
          <a:prstGeom prst="rect">
            <a:avLst/>
          </a:prstGeom>
        </p:spPr>
      </p:pic>
      <p:pic>
        <p:nvPicPr>
          <p:cNvPr id="15" name="Рисунок 14">
            <a:extLst>
              <a:ext uri="{FF2B5EF4-FFF2-40B4-BE49-F238E27FC236}">
                <a16:creationId xmlns:a16="http://schemas.microsoft.com/office/drawing/2014/main" id="{498F75CE-1280-EF3E-63D1-E6952B468347}"/>
              </a:ext>
            </a:extLst>
          </p:cNvPr>
          <p:cNvPicPr>
            <a:picLocks noChangeAspect="1"/>
          </p:cNvPicPr>
          <p:nvPr/>
        </p:nvPicPr>
        <p:blipFill>
          <a:blip r:embed="rId4"/>
          <a:stretch>
            <a:fillRect/>
          </a:stretch>
        </p:blipFill>
        <p:spPr>
          <a:xfrm>
            <a:off x="289970" y="4797786"/>
            <a:ext cx="8068801" cy="1162212"/>
          </a:xfrm>
          <a:prstGeom prst="rect">
            <a:avLst/>
          </a:prstGeom>
        </p:spPr>
      </p:pic>
      <p:pic>
        <p:nvPicPr>
          <p:cNvPr id="17" name="Рисунок 16">
            <a:extLst>
              <a:ext uri="{FF2B5EF4-FFF2-40B4-BE49-F238E27FC236}">
                <a16:creationId xmlns:a16="http://schemas.microsoft.com/office/drawing/2014/main" id="{2D7570A8-E151-4C3A-13E8-B17FBD5E50B8}"/>
              </a:ext>
            </a:extLst>
          </p:cNvPr>
          <p:cNvPicPr>
            <a:picLocks noChangeAspect="1"/>
          </p:cNvPicPr>
          <p:nvPr/>
        </p:nvPicPr>
        <p:blipFill>
          <a:blip r:embed="rId5"/>
          <a:stretch>
            <a:fillRect/>
          </a:stretch>
        </p:blipFill>
        <p:spPr>
          <a:xfrm>
            <a:off x="2648800" y="5940698"/>
            <a:ext cx="3506268" cy="376398"/>
          </a:xfrm>
          <a:prstGeom prst="rect">
            <a:avLst/>
          </a:prstGeom>
        </p:spPr>
      </p:pic>
      <p:pic>
        <p:nvPicPr>
          <p:cNvPr id="19" name="Рисунок 18">
            <a:extLst>
              <a:ext uri="{FF2B5EF4-FFF2-40B4-BE49-F238E27FC236}">
                <a16:creationId xmlns:a16="http://schemas.microsoft.com/office/drawing/2014/main" id="{C307AEAD-2004-D758-7F58-05D8AA4EFA64}"/>
              </a:ext>
            </a:extLst>
          </p:cNvPr>
          <p:cNvPicPr>
            <a:picLocks noChangeAspect="1"/>
          </p:cNvPicPr>
          <p:nvPr/>
        </p:nvPicPr>
        <p:blipFill>
          <a:blip r:embed="rId6"/>
          <a:stretch>
            <a:fillRect/>
          </a:stretch>
        </p:blipFill>
        <p:spPr>
          <a:xfrm>
            <a:off x="3562282" y="3640228"/>
            <a:ext cx="2173190" cy="586102"/>
          </a:xfrm>
          <a:prstGeom prst="rect">
            <a:avLst/>
          </a:prstGeom>
        </p:spPr>
      </p:pic>
      <p:sp>
        <p:nvSpPr>
          <p:cNvPr id="2" name="TextBox 1">
            <a:extLst>
              <a:ext uri="{FF2B5EF4-FFF2-40B4-BE49-F238E27FC236}">
                <a16:creationId xmlns:a16="http://schemas.microsoft.com/office/drawing/2014/main" id="{DF224A89-7BDE-5EC7-25B4-358C1BA86237}"/>
              </a:ext>
            </a:extLst>
          </p:cNvPr>
          <p:cNvSpPr txBox="1"/>
          <p:nvPr/>
        </p:nvSpPr>
        <p:spPr>
          <a:xfrm>
            <a:off x="8804041" y="5482566"/>
            <a:ext cx="3097989" cy="646331"/>
          </a:xfrm>
          <a:prstGeom prst="rect">
            <a:avLst/>
          </a:prstGeom>
          <a:noFill/>
        </p:spPr>
        <p:txBody>
          <a:bodyPr wrap="square" rtlCol="0">
            <a:spAutoFit/>
          </a:bodyPr>
          <a:lstStyle/>
          <a:p>
            <a:r>
              <a:rPr lang="ru-RU" dirty="0"/>
              <a:t>Градиент моментов 2 есть ЛК градиентов моментов 1</a:t>
            </a:r>
          </a:p>
        </p:txBody>
      </p:sp>
    </p:spTree>
    <p:extLst>
      <p:ext uri="{BB962C8B-B14F-4D97-AF65-F5344CB8AC3E}">
        <p14:creationId xmlns:p14="http://schemas.microsoft.com/office/powerpoint/2010/main" val="2159000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rmAutofit/>
          </a:bodyPr>
          <a:lstStyle/>
          <a:p>
            <a:r>
              <a:rPr lang="ru-RU" b="1" dirty="0"/>
              <a:t>Методы</a:t>
            </a:r>
            <a:br>
              <a:rPr lang="en-US" b="1" dirty="0"/>
            </a:br>
            <a:endParaRPr lang="ru-RU" b="1" dirty="0"/>
          </a:p>
        </p:txBody>
      </p:sp>
      <p:pic>
        <p:nvPicPr>
          <p:cNvPr id="9218" name="Picture 2" descr="Simulation - Free computer icons">
            <a:extLst>
              <a:ext uri="{FF2B5EF4-FFF2-40B4-BE49-F238E27FC236}">
                <a16:creationId xmlns:a16="http://schemas.microsoft.com/office/drawing/2014/main" id="{E4EF9B6D-F3A6-91FA-6ACD-9E0746B31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29" y="1934543"/>
            <a:ext cx="952520" cy="95252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Research Data Png analytics icon monitoring Big data ...">
            <a:extLst>
              <a:ext uri="{FF2B5EF4-FFF2-40B4-BE49-F238E27FC236}">
                <a16:creationId xmlns:a16="http://schemas.microsoft.com/office/drawing/2014/main" id="{4C8B67EE-FBC1-2770-D9D8-C0BF85EBB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898" y="3133725"/>
            <a:ext cx="1181120" cy="118112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Economic Model Icons - Free SVG &amp; PNG Economic Model Images - Noun Project">
            <a:extLst>
              <a:ext uri="{FF2B5EF4-FFF2-40B4-BE49-F238E27FC236}">
                <a16:creationId xmlns:a16="http://schemas.microsoft.com/office/drawing/2014/main" id="{9A338B8D-78D7-1253-EF4F-880BBF1DB5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378" y="4561507"/>
            <a:ext cx="1036160" cy="103616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935578F-D722-59FA-5B2F-21C7448E2565}"/>
              </a:ext>
            </a:extLst>
          </p:cNvPr>
          <p:cNvSpPr txBox="1"/>
          <p:nvPr/>
        </p:nvSpPr>
        <p:spPr>
          <a:xfrm>
            <a:off x="2189138" y="1932956"/>
            <a:ext cx="9670902" cy="954107"/>
          </a:xfrm>
          <a:prstGeom prst="rect">
            <a:avLst/>
          </a:prstGeom>
          <a:noFill/>
        </p:spPr>
        <p:txBody>
          <a:bodyPr wrap="square">
            <a:spAutoFit/>
          </a:bodyPr>
          <a:lstStyle/>
          <a:p>
            <a:pPr algn="l"/>
            <a:r>
              <a:rPr lang="ru-RU" sz="1400" b="0" i="0" dirty="0">
                <a:effectLst/>
                <a:latin typeface="HSE Sans" panose="02000000000000000000"/>
              </a:rPr>
              <a:t>Моделирование методом Монте-Карло:</a:t>
            </a:r>
          </a:p>
          <a:p>
            <a:pPr marL="285750" indent="-285750" algn="l">
              <a:buFont typeface="Wingdings" panose="05000000000000000000" pitchFamily="2" charset="2"/>
              <a:buChar char="§"/>
            </a:pPr>
            <a:r>
              <a:rPr lang="ru-RU" sz="1400" b="0" i="0" dirty="0">
                <a:effectLst/>
                <a:latin typeface="HSE Sans" panose="02000000000000000000"/>
              </a:rPr>
              <a:t>Генерация данных: уравнение Эйлера, AR(1) логарифмическое потребление, 6 инструментов (релевантных/нерелевантных)</a:t>
            </a:r>
          </a:p>
          <a:p>
            <a:pPr marL="285750" indent="-285750" algn="l">
              <a:buFont typeface="Wingdings" panose="05000000000000000000" pitchFamily="2" charset="2"/>
              <a:buChar char="§"/>
            </a:pPr>
            <a:r>
              <a:rPr lang="ru-RU" sz="1400" b="0" i="0" dirty="0">
                <a:effectLst/>
                <a:latin typeface="HSE Sans" panose="02000000000000000000"/>
              </a:rPr>
              <a:t>Проверка теста: частота отклонений соответствует уровням значимости при H0 и высокой мощности при H1.</a:t>
            </a:r>
            <a:endParaRPr lang="en-US" sz="1400" b="0" i="0" dirty="0">
              <a:effectLst/>
              <a:latin typeface="HSE Sans" panose="02000000000000000000"/>
            </a:endParaRPr>
          </a:p>
        </p:txBody>
      </p:sp>
      <p:sp>
        <p:nvSpPr>
          <p:cNvPr id="13" name="TextBox 12">
            <a:extLst>
              <a:ext uri="{FF2B5EF4-FFF2-40B4-BE49-F238E27FC236}">
                <a16:creationId xmlns:a16="http://schemas.microsoft.com/office/drawing/2014/main" id="{828B1F32-F99E-1D7D-B678-6932424349B8}"/>
              </a:ext>
            </a:extLst>
          </p:cNvPr>
          <p:cNvSpPr txBox="1"/>
          <p:nvPr/>
        </p:nvSpPr>
        <p:spPr>
          <a:xfrm>
            <a:off x="2189138" y="3162300"/>
            <a:ext cx="9154854" cy="1384995"/>
          </a:xfrm>
          <a:prstGeom prst="rect">
            <a:avLst/>
          </a:prstGeom>
          <a:noFill/>
        </p:spPr>
        <p:txBody>
          <a:bodyPr wrap="square">
            <a:spAutoFit/>
          </a:bodyPr>
          <a:lstStyle/>
          <a:p>
            <a:pPr algn="l"/>
            <a:r>
              <a:rPr lang="ru-RU" sz="1400" b="0" i="0" dirty="0">
                <a:effectLst/>
                <a:latin typeface="HSE Sans" panose="02000000000000000000"/>
              </a:rPr>
              <a:t>Сбор данных:</a:t>
            </a:r>
          </a:p>
          <a:p>
            <a:pPr marL="285750" indent="-285750" algn="l">
              <a:buFont typeface="Wingdings" panose="05000000000000000000" pitchFamily="2" charset="2"/>
              <a:buChar char="§"/>
            </a:pPr>
            <a:r>
              <a:rPr lang="ru-RU" sz="1400" b="0" i="0" dirty="0">
                <a:effectLst/>
                <a:latin typeface="HSE Sans" panose="02000000000000000000"/>
              </a:rPr>
              <a:t>Основные переменные: потребление по </a:t>
            </a:r>
            <a:r>
              <a:rPr lang="ru-RU" sz="1400" b="0" i="0" dirty="0" err="1">
                <a:effectLst/>
                <a:latin typeface="HSE Sans" panose="02000000000000000000"/>
              </a:rPr>
              <a:t>Сбериндексу</a:t>
            </a:r>
            <a:r>
              <a:rPr lang="ru-RU" sz="1400" b="0" i="0" dirty="0">
                <a:effectLst/>
                <a:latin typeface="HSE Sans" panose="02000000000000000000"/>
              </a:rPr>
              <a:t> (2018-2025 гг.), средневзвешенные ставки по депозитам (R-прокси)</a:t>
            </a:r>
          </a:p>
          <a:p>
            <a:pPr marL="285750" indent="-285750" algn="l">
              <a:buFont typeface="Wingdings" panose="05000000000000000000" pitchFamily="2" charset="2"/>
              <a:buChar char="§"/>
            </a:pPr>
            <a:r>
              <a:rPr lang="ru-RU" sz="1400" b="0" i="0" dirty="0">
                <a:effectLst/>
                <a:latin typeface="HSE Sans" panose="02000000000000000000"/>
              </a:rPr>
              <a:t>Инструменты: индекс потребительских цен, заработная плата, безработица, промышленное производство, индексы доверия…</a:t>
            </a:r>
          </a:p>
          <a:p>
            <a:pPr marL="285750" indent="-285750" algn="l">
              <a:buFont typeface="Wingdings" panose="05000000000000000000" pitchFamily="2" charset="2"/>
              <a:buChar char="§"/>
            </a:pPr>
            <a:r>
              <a:rPr lang="ru-RU" sz="1400" b="0" i="0" dirty="0">
                <a:effectLst/>
                <a:latin typeface="HSE Sans" panose="02000000000000000000"/>
              </a:rPr>
              <a:t>Предварительная обработка: сезонная, разницы логарифмов, тесты на стационарность…</a:t>
            </a:r>
            <a:endParaRPr lang="ru-RU" sz="1400" dirty="0"/>
          </a:p>
        </p:txBody>
      </p:sp>
      <p:sp>
        <p:nvSpPr>
          <p:cNvPr id="16" name="TextBox 15">
            <a:extLst>
              <a:ext uri="{FF2B5EF4-FFF2-40B4-BE49-F238E27FC236}">
                <a16:creationId xmlns:a16="http://schemas.microsoft.com/office/drawing/2014/main" id="{DCE215A7-ABB8-28EB-0F42-1EE327FA9886}"/>
              </a:ext>
            </a:extLst>
          </p:cNvPr>
          <p:cNvSpPr txBox="1"/>
          <p:nvPr/>
        </p:nvSpPr>
        <p:spPr>
          <a:xfrm>
            <a:off x="2189138" y="4783231"/>
            <a:ext cx="6096000" cy="738664"/>
          </a:xfrm>
          <a:prstGeom prst="rect">
            <a:avLst/>
          </a:prstGeom>
          <a:noFill/>
        </p:spPr>
        <p:txBody>
          <a:bodyPr wrap="square">
            <a:spAutoFit/>
          </a:bodyPr>
          <a:lstStyle/>
          <a:p>
            <a:pPr algn="l"/>
            <a:r>
              <a:rPr lang="ru-RU" sz="1400" b="0" i="0" dirty="0">
                <a:effectLst/>
                <a:latin typeface="HSE Sans" panose="02000000000000000000"/>
              </a:rPr>
              <a:t>Выбор моментов через </a:t>
            </a:r>
            <a:r>
              <a:rPr lang="en-US" sz="1400" b="0" i="0" dirty="0">
                <a:effectLst/>
                <a:latin typeface="HSE Sans" panose="02000000000000000000"/>
              </a:rPr>
              <a:t>GMM</a:t>
            </a:r>
            <a:r>
              <a:rPr lang="ru-RU" sz="1400" b="0" i="0" dirty="0">
                <a:effectLst/>
                <a:latin typeface="HSE Sans" panose="02000000000000000000"/>
              </a:rPr>
              <a:t> и тесты:</a:t>
            </a:r>
          </a:p>
          <a:p>
            <a:pPr marL="285750" indent="-285750" algn="l">
              <a:buFont typeface="Wingdings" panose="05000000000000000000" pitchFamily="2" charset="2"/>
              <a:buChar char="§"/>
            </a:pPr>
            <a:r>
              <a:rPr lang="ru-RU" sz="1400" dirty="0">
                <a:latin typeface="HSE Sans" panose="02000000000000000000"/>
              </a:rPr>
              <a:t>Двухэтапный </a:t>
            </a:r>
            <a:r>
              <a:rPr lang="en-US" sz="1400" dirty="0">
                <a:latin typeface="HSE Sans" panose="02000000000000000000"/>
              </a:rPr>
              <a:t>GMM + HAC</a:t>
            </a:r>
          </a:p>
          <a:p>
            <a:pPr marL="285750" indent="-285750" algn="l">
              <a:buFont typeface="Wingdings" panose="05000000000000000000" pitchFamily="2" charset="2"/>
              <a:buChar char="§"/>
            </a:pPr>
            <a:r>
              <a:rPr lang="ru-RU" sz="1400" b="0" i="0" dirty="0">
                <a:effectLst/>
                <a:latin typeface="HSE Sans" panose="02000000000000000000"/>
              </a:rPr>
              <a:t>Информационное поле агента + инт</a:t>
            </a:r>
            <a:r>
              <a:rPr lang="ru-RU" sz="1400" dirty="0">
                <a:latin typeface="HSE Sans" panose="02000000000000000000"/>
              </a:rPr>
              <a:t>ерпретация</a:t>
            </a:r>
            <a:r>
              <a:rPr lang="en-US" sz="1400" b="0" i="0" dirty="0">
                <a:effectLst/>
                <a:latin typeface="HSE Sans" panose="02000000000000000000"/>
              </a:rPr>
              <a:t> </a:t>
            </a:r>
            <a:endParaRPr lang="en-US" sz="1400" dirty="0">
              <a:latin typeface="HSE Sans" panose="02000000000000000000"/>
            </a:endParaRPr>
          </a:p>
        </p:txBody>
      </p:sp>
      <p:sp>
        <p:nvSpPr>
          <p:cNvPr id="17" name="TextBox 16">
            <a:extLst>
              <a:ext uri="{FF2B5EF4-FFF2-40B4-BE49-F238E27FC236}">
                <a16:creationId xmlns:a16="http://schemas.microsoft.com/office/drawing/2014/main" id="{5994D711-9A49-57BC-1D10-FCF57FD92071}"/>
              </a:ext>
            </a:extLst>
          </p:cNvPr>
          <p:cNvSpPr txBox="1"/>
          <p:nvPr/>
        </p:nvSpPr>
        <p:spPr>
          <a:xfrm>
            <a:off x="6874031" y="5152563"/>
            <a:ext cx="5194236" cy="1815882"/>
          </a:xfrm>
          <a:prstGeom prst="rect">
            <a:avLst/>
          </a:prstGeom>
          <a:noFill/>
          <a:ln w="19050">
            <a:solidFill>
              <a:schemeClr val="tx1"/>
            </a:solidFill>
          </a:ln>
        </p:spPr>
        <p:txBody>
          <a:bodyPr wrap="square" rtlCol="0">
            <a:spAutoFit/>
          </a:bodyPr>
          <a:lstStyle/>
          <a:p>
            <a:pPr algn="l"/>
            <a:r>
              <a:rPr lang="ru-RU" sz="1400" b="1" i="0" dirty="0">
                <a:effectLst/>
                <a:latin typeface="HSE Sans" panose="02000000000000000000"/>
              </a:rPr>
              <a:t>Ограничения</a:t>
            </a:r>
            <a:endParaRPr lang="en-US" sz="1400" b="1" i="0" dirty="0">
              <a:effectLst/>
              <a:latin typeface="HSE Sans" panose="02000000000000000000"/>
            </a:endParaRPr>
          </a:p>
          <a:p>
            <a:pPr marL="285750" indent="-285750" algn="l">
              <a:buFont typeface="Wingdings" panose="05000000000000000000" pitchFamily="2" charset="2"/>
              <a:buChar char="§"/>
            </a:pPr>
            <a:r>
              <a:rPr lang="ru-RU" sz="1400" b="0" i="0" dirty="0">
                <a:effectLst/>
                <a:latin typeface="HSE Sans" panose="02000000000000000000"/>
              </a:rPr>
              <a:t>Предположение о репрезентативном агенте (один </a:t>
            </a:r>
            <a:r>
              <a:rPr lang="ru-RU" sz="1400" b="0" i="0" dirty="0" err="1">
                <a:effectLst/>
                <a:latin typeface="HSE Sans" panose="02000000000000000000"/>
              </a:rPr>
              <a:t>макроагент</a:t>
            </a:r>
            <a:r>
              <a:rPr lang="ru-RU" sz="1400" b="0" i="0" dirty="0">
                <a:effectLst/>
                <a:latin typeface="HSE Sans" panose="02000000000000000000"/>
              </a:rPr>
              <a:t> максимизирует полезность)</a:t>
            </a:r>
          </a:p>
          <a:p>
            <a:pPr marL="285750" indent="-285750" algn="l">
              <a:buFont typeface="Wingdings" panose="05000000000000000000" pitchFamily="2" charset="2"/>
              <a:buChar char="§"/>
            </a:pPr>
            <a:r>
              <a:rPr lang="ru-RU" sz="1400" b="0" i="0" dirty="0">
                <a:effectLst/>
                <a:latin typeface="HSE Sans" panose="02000000000000000000"/>
              </a:rPr>
              <a:t>Погрешность агрегирования в сравнении с неоднородностью </a:t>
            </a:r>
            <a:r>
              <a:rPr lang="ru-RU" sz="1400" b="0" i="0" dirty="0" err="1">
                <a:effectLst/>
                <a:latin typeface="HSE Sans" panose="02000000000000000000"/>
              </a:rPr>
              <a:t>микроданных</a:t>
            </a:r>
            <a:endParaRPr lang="ru-RU" sz="1400" b="0" i="0" dirty="0">
              <a:effectLst/>
              <a:latin typeface="HSE Sans" panose="02000000000000000000"/>
            </a:endParaRPr>
          </a:p>
          <a:p>
            <a:pPr marL="285750" indent="-285750" algn="l">
              <a:buFont typeface="Wingdings" panose="05000000000000000000" pitchFamily="2" charset="2"/>
              <a:buChar char="§"/>
            </a:pPr>
            <a:r>
              <a:rPr lang="ru-RU" sz="1400" b="0" i="0" dirty="0">
                <a:effectLst/>
                <a:latin typeface="HSE Sans" panose="02000000000000000000"/>
              </a:rPr>
              <a:t>Короткие временные ряды (2018-2025 гг., ежемесячно, 80+ наблюдений)</a:t>
            </a:r>
          </a:p>
          <a:p>
            <a:pPr marL="285750" indent="-285750" algn="l">
              <a:buFont typeface="Wingdings" panose="05000000000000000000" pitchFamily="2" charset="2"/>
              <a:buChar char="§"/>
            </a:pPr>
            <a:endParaRPr lang="ru-RU" sz="1400" dirty="0"/>
          </a:p>
        </p:txBody>
      </p:sp>
    </p:spTree>
    <p:extLst>
      <p:ext uri="{BB962C8B-B14F-4D97-AF65-F5344CB8AC3E}">
        <p14:creationId xmlns:p14="http://schemas.microsoft.com/office/powerpoint/2010/main" val="294979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rmAutofit/>
          </a:bodyPr>
          <a:lstStyle/>
          <a:p>
            <a:r>
              <a:rPr lang="ru-RU" b="1" dirty="0"/>
              <a:t>Методы</a:t>
            </a:r>
            <a:br>
              <a:rPr lang="en-US" b="1" dirty="0"/>
            </a:br>
            <a:endParaRPr lang="ru-RU" b="1" dirty="0"/>
          </a:p>
        </p:txBody>
      </p:sp>
      <p:pic>
        <p:nvPicPr>
          <p:cNvPr id="3" name="Рисунок 2">
            <a:extLst>
              <a:ext uri="{FF2B5EF4-FFF2-40B4-BE49-F238E27FC236}">
                <a16:creationId xmlns:a16="http://schemas.microsoft.com/office/drawing/2014/main" id="{602CD436-BA8F-63E8-90D4-511938057BA7}"/>
              </a:ext>
            </a:extLst>
          </p:cNvPr>
          <p:cNvPicPr>
            <a:picLocks noChangeAspect="1"/>
          </p:cNvPicPr>
          <p:nvPr/>
        </p:nvPicPr>
        <p:blipFill>
          <a:blip r:embed="rId3"/>
          <a:stretch>
            <a:fillRect/>
          </a:stretch>
        </p:blipFill>
        <p:spPr>
          <a:xfrm>
            <a:off x="2078892" y="2003017"/>
            <a:ext cx="8034216" cy="4039877"/>
          </a:xfrm>
          <a:prstGeom prst="rect">
            <a:avLst/>
          </a:prstGeom>
        </p:spPr>
      </p:pic>
    </p:spTree>
    <p:extLst>
      <p:ext uri="{BB962C8B-B14F-4D97-AF65-F5344CB8AC3E}">
        <p14:creationId xmlns:p14="http://schemas.microsoft.com/office/powerpoint/2010/main" val="1456553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br>
              <a:rPr lang="it-IT" b="1" dirty="0">
                <a:effectLst/>
              </a:rPr>
            </a:br>
            <a:br>
              <a:rPr lang="it-IT" b="0" i="0" dirty="0">
                <a:solidFill>
                  <a:srgbClr val="F0F6FC"/>
                </a:solidFill>
                <a:effectLst/>
                <a:latin typeface="-apple-system"/>
              </a:rPr>
            </a:br>
            <a:br>
              <a:rPr lang="en-US" b="1" dirty="0"/>
            </a:br>
            <a:endParaRPr lang="ru-RU" b="1" dirty="0"/>
          </a:p>
        </p:txBody>
      </p:sp>
      <p:pic>
        <p:nvPicPr>
          <p:cNvPr id="16" name="Рисунок 15">
            <a:extLst>
              <a:ext uri="{FF2B5EF4-FFF2-40B4-BE49-F238E27FC236}">
                <a16:creationId xmlns:a16="http://schemas.microsoft.com/office/drawing/2014/main" id="{699D9105-1010-9D35-977E-E1CA437D90BC}"/>
              </a:ext>
            </a:extLst>
          </p:cNvPr>
          <p:cNvPicPr>
            <a:picLocks noChangeAspect="1"/>
          </p:cNvPicPr>
          <p:nvPr/>
        </p:nvPicPr>
        <p:blipFill>
          <a:blip r:embed="rId3"/>
          <a:stretch>
            <a:fillRect/>
          </a:stretch>
        </p:blipFill>
        <p:spPr>
          <a:xfrm>
            <a:off x="499686" y="2524125"/>
            <a:ext cx="3953484" cy="2377668"/>
          </a:xfrm>
          <a:prstGeom prst="rect">
            <a:avLst/>
          </a:prstGeom>
        </p:spPr>
      </p:pic>
    </p:spTree>
    <p:extLst>
      <p:ext uri="{BB962C8B-B14F-4D97-AF65-F5344CB8AC3E}">
        <p14:creationId xmlns:p14="http://schemas.microsoft.com/office/powerpoint/2010/main" val="1409868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br>
              <a:rPr lang="it-IT" b="1" dirty="0">
                <a:effectLst/>
              </a:rPr>
            </a:br>
            <a:br>
              <a:rPr lang="it-IT" b="0" i="0" dirty="0">
                <a:solidFill>
                  <a:srgbClr val="F0F6FC"/>
                </a:solidFill>
                <a:effectLst/>
                <a:latin typeface="-apple-system"/>
              </a:rPr>
            </a:br>
            <a:br>
              <a:rPr lang="en-US" b="1" dirty="0"/>
            </a:br>
            <a:endParaRPr lang="ru-RU" b="1" dirty="0"/>
          </a:p>
        </p:txBody>
      </p:sp>
      <p:pic>
        <p:nvPicPr>
          <p:cNvPr id="3" name="Рисунок 2">
            <a:extLst>
              <a:ext uri="{FF2B5EF4-FFF2-40B4-BE49-F238E27FC236}">
                <a16:creationId xmlns:a16="http://schemas.microsoft.com/office/drawing/2014/main" id="{C500AF75-7B1D-2ADD-B828-D1F3DAF5D212}"/>
              </a:ext>
            </a:extLst>
          </p:cNvPr>
          <p:cNvPicPr>
            <a:picLocks noChangeAspect="1"/>
          </p:cNvPicPr>
          <p:nvPr/>
        </p:nvPicPr>
        <p:blipFill>
          <a:blip r:embed="rId3"/>
          <a:stretch>
            <a:fillRect/>
          </a:stretch>
        </p:blipFill>
        <p:spPr>
          <a:xfrm>
            <a:off x="627887" y="2724052"/>
            <a:ext cx="10936226" cy="704948"/>
          </a:xfrm>
          <a:prstGeom prst="rect">
            <a:avLst/>
          </a:prstGeom>
        </p:spPr>
      </p:pic>
    </p:spTree>
    <p:extLst>
      <p:ext uri="{BB962C8B-B14F-4D97-AF65-F5344CB8AC3E}">
        <p14:creationId xmlns:p14="http://schemas.microsoft.com/office/powerpoint/2010/main" val="2423791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br>
              <a:rPr lang="it-IT" b="1" dirty="0">
                <a:effectLst/>
              </a:rPr>
            </a:br>
            <a:br>
              <a:rPr lang="it-IT" b="0" i="0" dirty="0">
                <a:solidFill>
                  <a:srgbClr val="F0F6FC"/>
                </a:solidFill>
                <a:effectLst/>
                <a:latin typeface="-apple-system"/>
              </a:rPr>
            </a:br>
            <a:br>
              <a:rPr lang="en-US" b="1" dirty="0"/>
            </a:br>
            <a:endParaRPr lang="ru-RU" b="1" dirty="0"/>
          </a:p>
        </p:txBody>
      </p:sp>
      <p:pic>
        <p:nvPicPr>
          <p:cNvPr id="3" name="Рисунок 2">
            <a:extLst>
              <a:ext uri="{FF2B5EF4-FFF2-40B4-BE49-F238E27FC236}">
                <a16:creationId xmlns:a16="http://schemas.microsoft.com/office/drawing/2014/main" id="{C500AF75-7B1D-2ADD-B828-D1F3DAF5D212}"/>
              </a:ext>
            </a:extLst>
          </p:cNvPr>
          <p:cNvPicPr>
            <a:picLocks noChangeAspect="1"/>
          </p:cNvPicPr>
          <p:nvPr/>
        </p:nvPicPr>
        <p:blipFill>
          <a:blip r:embed="rId3"/>
          <a:stretch>
            <a:fillRect/>
          </a:stretch>
        </p:blipFill>
        <p:spPr>
          <a:xfrm>
            <a:off x="627887" y="2724052"/>
            <a:ext cx="10936226" cy="704948"/>
          </a:xfrm>
          <a:prstGeom prst="rect">
            <a:avLst/>
          </a:prstGeom>
        </p:spPr>
      </p:pic>
      <p:pic>
        <p:nvPicPr>
          <p:cNvPr id="9" name="Рисунок 8">
            <a:extLst>
              <a:ext uri="{FF2B5EF4-FFF2-40B4-BE49-F238E27FC236}">
                <a16:creationId xmlns:a16="http://schemas.microsoft.com/office/drawing/2014/main" id="{D9485844-4CA5-8FFE-15C7-5102E6075C5E}"/>
              </a:ext>
            </a:extLst>
          </p:cNvPr>
          <p:cNvPicPr>
            <a:picLocks noChangeAspect="1"/>
          </p:cNvPicPr>
          <p:nvPr/>
        </p:nvPicPr>
        <p:blipFill>
          <a:blip r:embed="rId4"/>
          <a:stretch>
            <a:fillRect/>
          </a:stretch>
        </p:blipFill>
        <p:spPr>
          <a:xfrm>
            <a:off x="1918658" y="3429000"/>
            <a:ext cx="8221222" cy="752580"/>
          </a:xfrm>
          <a:prstGeom prst="rect">
            <a:avLst/>
          </a:prstGeom>
        </p:spPr>
      </p:pic>
    </p:spTree>
    <p:extLst>
      <p:ext uri="{BB962C8B-B14F-4D97-AF65-F5344CB8AC3E}">
        <p14:creationId xmlns:p14="http://schemas.microsoft.com/office/powerpoint/2010/main" val="1270331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br>
              <a:rPr lang="it-IT" b="1" dirty="0">
                <a:effectLst/>
              </a:rPr>
            </a:br>
            <a:br>
              <a:rPr lang="it-IT" b="0" i="0" dirty="0">
                <a:solidFill>
                  <a:srgbClr val="F0F6FC"/>
                </a:solidFill>
                <a:effectLst/>
                <a:latin typeface="-apple-system"/>
              </a:rPr>
            </a:br>
            <a:br>
              <a:rPr lang="en-US" b="1" dirty="0"/>
            </a:br>
            <a:endParaRPr lang="ru-RU" b="1" dirty="0"/>
          </a:p>
        </p:txBody>
      </p:sp>
      <p:pic>
        <p:nvPicPr>
          <p:cNvPr id="3" name="Рисунок 2">
            <a:extLst>
              <a:ext uri="{FF2B5EF4-FFF2-40B4-BE49-F238E27FC236}">
                <a16:creationId xmlns:a16="http://schemas.microsoft.com/office/drawing/2014/main" id="{C500AF75-7B1D-2ADD-B828-D1F3DAF5D212}"/>
              </a:ext>
            </a:extLst>
          </p:cNvPr>
          <p:cNvPicPr>
            <a:picLocks noChangeAspect="1"/>
          </p:cNvPicPr>
          <p:nvPr/>
        </p:nvPicPr>
        <p:blipFill>
          <a:blip r:embed="rId3"/>
          <a:stretch>
            <a:fillRect/>
          </a:stretch>
        </p:blipFill>
        <p:spPr>
          <a:xfrm>
            <a:off x="627887" y="2724052"/>
            <a:ext cx="10936226" cy="704948"/>
          </a:xfrm>
          <a:prstGeom prst="rect">
            <a:avLst/>
          </a:prstGeom>
        </p:spPr>
      </p:pic>
      <p:pic>
        <p:nvPicPr>
          <p:cNvPr id="9" name="Рисунок 8">
            <a:extLst>
              <a:ext uri="{FF2B5EF4-FFF2-40B4-BE49-F238E27FC236}">
                <a16:creationId xmlns:a16="http://schemas.microsoft.com/office/drawing/2014/main" id="{D9485844-4CA5-8FFE-15C7-5102E6075C5E}"/>
              </a:ext>
            </a:extLst>
          </p:cNvPr>
          <p:cNvPicPr>
            <a:picLocks noChangeAspect="1"/>
          </p:cNvPicPr>
          <p:nvPr/>
        </p:nvPicPr>
        <p:blipFill>
          <a:blip r:embed="rId4"/>
          <a:stretch>
            <a:fillRect/>
          </a:stretch>
        </p:blipFill>
        <p:spPr>
          <a:xfrm>
            <a:off x="1918658" y="3429000"/>
            <a:ext cx="8221222" cy="752580"/>
          </a:xfrm>
          <a:prstGeom prst="rect">
            <a:avLst/>
          </a:prstGeom>
        </p:spPr>
      </p:pic>
      <p:pic>
        <p:nvPicPr>
          <p:cNvPr id="12" name="Рисунок 11">
            <a:extLst>
              <a:ext uri="{FF2B5EF4-FFF2-40B4-BE49-F238E27FC236}">
                <a16:creationId xmlns:a16="http://schemas.microsoft.com/office/drawing/2014/main" id="{572B080B-E660-B825-5829-A1A82CE49238}"/>
              </a:ext>
            </a:extLst>
          </p:cNvPr>
          <p:cNvPicPr>
            <a:picLocks noChangeAspect="1"/>
          </p:cNvPicPr>
          <p:nvPr/>
        </p:nvPicPr>
        <p:blipFill>
          <a:blip r:embed="rId5"/>
          <a:stretch>
            <a:fillRect/>
          </a:stretch>
        </p:blipFill>
        <p:spPr>
          <a:xfrm>
            <a:off x="461484" y="4228945"/>
            <a:ext cx="6849431" cy="1181265"/>
          </a:xfrm>
          <a:prstGeom prst="rect">
            <a:avLst/>
          </a:prstGeom>
        </p:spPr>
      </p:pic>
      <p:pic>
        <p:nvPicPr>
          <p:cNvPr id="4" name="Рисунок 3">
            <a:extLst>
              <a:ext uri="{FF2B5EF4-FFF2-40B4-BE49-F238E27FC236}">
                <a16:creationId xmlns:a16="http://schemas.microsoft.com/office/drawing/2014/main" id="{32569030-3CFB-B214-0FCC-E1C573F25A58}"/>
              </a:ext>
            </a:extLst>
          </p:cNvPr>
          <p:cNvPicPr>
            <a:picLocks noChangeAspect="1"/>
          </p:cNvPicPr>
          <p:nvPr/>
        </p:nvPicPr>
        <p:blipFill>
          <a:blip r:embed="rId6"/>
          <a:stretch>
            <a:fillRect/>
          </a:stretch>
        </p:blipFill>
        <p:spPr>
          <a:xfrm>
            <a:off x="7757822" y="4228945"/>
            <a:ext cx="4163006" cy="1086002"/>
          </a:xfrm>
          <a:prstGeom prst="rect">
            <a:avLst/>
          </a:prstGeom>
        </p:spPr>
      </p:pic>
    </p:spTree>
    <p:extLst>
      <p:ext uri="{BB962C8B-B14F-4D97-AF65-F5344CB8AC3E}">
        <p14:creationId xmlns:p14="http://schemas.microsoft.com/office/powerpoint/2010/main" val="2331242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br>
              <a:rPr lang="it-IT" b="1" dirty="0">
                <a:effectLst/>
              </a:rPr>
            </a:br>
            <a:br>
              <a:rPr lang="it-IT" b="0" i="0" dirty="0">
                <a:solidFill>
                  <a:srgbClr val="F0F6FC"/>
                </a:solidFill>
                <a:effectLst/>
                <a:latin typeface="-apple-system"/>
              </a:rPr>
            </a:br>
            <a:br>
              <a:rPr lang="en-US" b="1" dirty="0"/>
            </a:br>
            <a:endParaRPr lang="ru-RU" b="1" dirty="0"/>
          </a:p>
        </p:txBody>
      </p:sp>
      <p:pic>
        <p:nvPicPr>
          <p:cNvPr id="3" name="Рисунок 2">
            <a:extLst>
              <a:ext uri="{FF2B5EF4-FFF2-40B4-BE49-F238E27FC236}">
                <a16:creationId xmlns:a16="http://schemas.microsoft.com/office/drawing/2014/main" id="{C500AF75-7B1D-2ADD-B828-D1F3DAF5D212}"/>
              </a:ext>
            </a:extLst>
          </p:cNvPr>
          <p:cNvPicPr>
            <a:picLocks noChangeAspect="1"/>
          </p:cNvPicPr>
          <p:nvPr/>
        </p:nvPicPr>
        <p:blipFill>
          <a:blip r:embed="rId3"/>
          <a:stretch>
            <a:fillRect/>
          </a:stretch>
        </p:blipFill>
        <p:spPr>
          <a:xfrm>
            <a:off x="627887" y="2724052"/>
            <a:ext cx="10936226" cy="704948"/>
          </a:xfrm>
          <a:prstGeom prst="rect">
            <a:avLst/>
          </a:prstGeom>
        </p:spPr>
      </p:pic>
      <p:pic>
        <p:nvPicPr>
          <p:cNvPr id="9" name="Рисунок 8">
            <a:extLst>
              <a:ext uri="{FF2B5EF4-FFF2-40B4-BE49-F238E27FC236}">
                <a16:creationId xmlns:a16="http://schemas.microsoft.com/office/drawing/2014/main" id="{D9485844-4CA5-8FFE-15C7-5102E6075C5E}"/>
              </a:ext>
            </a:extLst>
          </p:cNvPr>
          <p:cNvPicPr>
            <a:picLocks noChangeAspect="1"/>
          </p:cNvPicPr>
          <p:nvPr/>
        </p:nvPicPr>
        <p:blipFill>
          <a:blip r:embed="rId4"/>
          <a:stretch>
            <a:fillRect/>
          </a:stretch>
        </p:blipFill>
        <p:spPr>
          <a:xfrm>
            <a:off x="1918658" y="3429000"/>
            <a:ext cx="8221222" cy="752580"/>
          </a:xfrm>
          <a:prstGeom prst="rect">
            <a:avLst/>
          </a:prstGeom>
        </p:spPr>
      </p:pic>
      <p:sp>
        <p:nvSpPr>
          <p:cNvPr id="10" name="TextBox 9">
            <a:extLst>
              <a:ext uri="{FF2B5EF4-FFF2-40B4-BE49-F238E27FC236}">
                <a16:creationId xmlns:a16="http://schemas.microsoft.com/office/drawing/2014/main" id="{DF92F943-10F3-7E76-EDF8-71B8CD42DAF7}"/>
              </a:ext>
            </a:extLst>
          </p:cNvPr>
          <p:cNvSpPr txBox="1"/>
          <p:nvPr/>
        </p:nvSpPr>
        <p:spPr>
          <a:xfrm>
            <a:off x="303213" y="5614550"/>
            <a:ext cx="4191000" cy="923330"/>
          </a:xfrm>
          <a:prstGeom prst="rect">
            <a:avLst/>
          </a:prstGeom>
          <a:noFill/>
        </p:spPr>
        <p:txBody>
          <a:bodyPr wrap="square" rtlCol="0">
            <a:spAutoFit/>
          </a:bodyPr>
          <a:lstStyle/>
          <a:p>
            <a:r>
              <a:rPr lang="en-US" dirty="0"/>
              <a:t>Relevant: Z1, Z2, Z5</a:t>
            </a:r>
          </a:p>
          <a:p>
            <a:r>
              <a:rPr lang="en-US" dirty="0"/>
              <a:t>Irrelevant: Z3, Z4</a:t>
            </a:r>
          </a:p>
          <a:p>
            <a:r>
              <a:rPr lang="en-US" dirty="0"/>
              <a:t>Conditionally irrelevant: Z6 </a:t>
            </a:r>
            <a:endParaRPr lang="ru-RU" dirty="0"/>
          </a:p>
        </p:txBody>
      </p:sp>
      <p:pic>
        <p:nvPicPr>
          <p:cNvPr id="12" name="Рисунок 11">
            <a:extLst>
              <a:ext uri="{FF2B5EF4-FFF2-40B4-BE49-F238E27FC236}">
                <a16:creationId xmlns:a16="http://schemas.microsoft.com/office/drawing/2014/main" id="{572B080B-E660-B825-5829-A1A82CE49238}"/>
              </a:ext>
            </a:extLst>
          </p:cNvPr>
          <p:cNvPicPr>
            <a:picLocks noChangeAspect="1"/>
          </p:cNvPicPr>
          <p:nvPr/>
        </p:nvPicPr>
        <p:blipFill>
          <a:blip r:embed="rId5"/>
          <a:stretch>
            <a:fillRect/>
          </a:stretch>
        </p:blipFill>
        <p:spPr>
          <a:xfrm>
            <a:off x="461484" y="4228945"/>
            <a:ext cx="6849431" cy="1181265"/>
          </a:xfrm>
          <a:prstGeom prst="rect">
            <a:avLst/>
          </a:prstGeom>
        </p:spPr>
      </p:pic>
      <p:pic>
        <p:nvPicPr>
          <p:cNvPr id="4" name="Рисунок 3">
            <a:extLst>
              <a:ext uri="{FF2B5EF4-FFF2-40B4-BE49-F238E27FC236}">
                <a16:creationId xmlns:a16="http://schemas.microsoft.com/office/drawing/2014/main" id="{32569030-3CFB-B214-0FCC-E1C573F25A58}"/>
              </a:ext>
            </a:extLst>
          </p:cNvPr>
          <p:cNvPicPr>
            <a:picLocks noChangeAspect="1"/>
          </p:cNvPicPr>
          <p:nvPr/>
        </p:nvPicPr>
        <p:blipFill>
          <a:blip r:embed="rId6"/>
          <a:stretch>
            <a:fillRect/>
          </a:stretch>
        </p:blipFill>
        <p:spPr>
          <a:xfrm>
            <a:off x="7757822" y="4228945"/>
            <a:ext cx="4163006" cy="1086002"/>
          </a:xfrm>
          <a:prstGeom prst="rect">
            <a:avLst/>
          </a:prstGeom>
        </p:spPr>
      </p:pic>
    </p:spTree>
    <p:extLst>
      <p:ext uri="{BB962C8B-B14F-4D97-AF65-F5344CB8AC3E}">
        <p14:creationId xmlns:p14="http://schemas.microsoft.com/office/powerpoint/2010/main" val="3389329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r>
              <a:rPr lang="it-IT" b="1" dirty="0"/>
              <a:t>::unconditional_relevance</a:t>
            </a:r>
            <a:br>
              <a:rPr lang="it-IT" b="1" dirty="0">
                <a:effectLst/>
              </a:rPr>
            </a:br>
            <a:br>
              <a:rPr lang="it-IT" b="0" i="0" dirty="0">
                <a:solidFill>
                  <a:srgbClr val="F0F6FC"/>
                </a:solidFill>
                <a:effectLst/>
                <a:latin typeface="-apple-system"/>
              </a:rPr>
            </a:br>
            <a:br>
              <a:rPr lang="en-US" b="1" dirty="0"/>
            </a:br>
            <a:endParaRPr lang="ru-RU" b="1" dirty="0"/>
          </a:p>
        </p:txBody>
      </p:sp>
      <p:pic>
        <p:nvPicPr>
          <p:cNvPr id="11" name="Рисунок 10" descr="Изображение выглядит как текст, диаграмма, линия, число&#10;&#10;Контент, сгенерированный ИИ, может содержать ошибки.">
            <a:extLst>
              <a:ext uri="{FF2B5EF4-FFF2-40B4-BE49-F238E27FC236}">
                <a16:creationId xmlns:a16="http://schemas.microsoft.com/office/drawing/2014/main" id="{A9A9A9C7-EC55-122B-4F68-6CA5580F5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91" y="2310957"/>
            <a:ext cx="5448300" cy="4145128"/>
          </a:xfrm>
          <a:prstGeom prst="rect">
            <a:avLst/>
          </a:prstGeom>
        </p:spPr>
      </p:pic>
      <p:sp>
        <p:nvSpPr>
          <p:cNvPr id="13" name="TextBox 12">
            <a:extLst>
              <a:ext uri="{FF2B5EF4-FFF2-40B4-BE49-F238E27FC236}">
                <a16:creationId xmlns:a16="http://schemas.microsoft.com/office/drawing/2014/main" id="{EF704988-89ED-378E-398A-812A9E035B02}"/>
              </a:ext>
            </a:extLst>
          </p:cNvPr>
          <p:cNvSpPr txBox="1"/>
          <p:nvPr/>
        </p:nvSpPr>
        <p:spPr>
          <a:xfrm>
            <a:off x="7410450" y="2790825"/>
            <a:ext cx="4171950" cy="1477328"/>
          </a:xfrm>
          <a:prstGeom prst="rect">
            <a:avLst/>
          </a:prstGeom>
          <a:noFill/>
        </p:spPr>
        <p:txBody>
          <a:bodyPr wrap="square" rtlCol="0">
            <a:spAutoFit/>
          </a:bodyPr>
          <a:lstStyle/>
          <a:p>
            <a:r>
              <a:rPr lang="en-US" dirty="0"/>
              <a:t>Z1, Z2, Z5 – </a:t>
            </a:r>
            <a:r>
              <a:rPr lang="ru-RU" dirty="0"/>
              <a:t>как ожидали релевантны</a:t>
            </a:r>
          </a:p>
          <a:p>
            <a:endParaRPr lang="ru-RU" dirty="0"/>
          </a:p>
          <a:p>
            <a:r>
              <a:rPr lang="en-US" dirty="0"/>
              <a:t>Z2, Z4 – </a:t>
            </a:r>
            <a:r>
              <a:rPr lang="ru-RU" dirty="0"/>
              <a:t>нерелевантны</a:t>
            </a:r>
          </a:p>
          <a:p>
            <a:endParaRPr lang="ru-RU" dirty="0"/>
          </a:p>
          <a:p>
            <a:r>
              <a:rPr lang="ru-RU" dirty="0"/>
              <a:t>Группы - аналогично</a:t>
            </a:r>
          </a:p>
        </p:txBody>
      </p:sp>
    </p:spTree>
    <p:extLst>
      <p:ext uri="{BB962C8B-B14F-4D97-AF65-F5344CB8AC3E}">
        <p14:creationId xmlns:p14="http://schemas.microsoft.com/office/powerpoint/2010/main" val="592118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non_partial_monte_carlo.py</a:t>
            </a:r>
            <a:r>
              <a:rPr lang="it-IT" b="1" dirty="0"/>
              <a:t>::conditional_relevance</a:t>
            </a:r>
            <a:br>
              <a:rPr lang="it-IT" b="1" dirty="0">
                <a:effectLst/>
              </a:rPr>
            </a:br>
            <a:br>
              <a:rPr lang="it-IT" b="0" i="0" dirty="0">
                <a:solidFill>
                  <a:srgbClr val="F0F6FC"/>
                </a:solidFill>
                <a:effectLst/>
                <a:latin typeface="-apple-system"/>
              </a:rPr>
            </a:br>
            <a:br>
              <a:rPr lang="en-US" b="1" dirty="0"/>
            </a:br>
            <a:endParaRPr lang="ru-RU" b="1" dirty="0"/>
          </a:p>
        </p:txBody>
      </p:sp>
      <p:pic>
        <p:nvPicPr>
          <p:cNvPr id="3" name="Рисунок 2" descr="Изображение выглядит как текст, диаграмма, линия, Параллельный&#10;&#10;Контент, сгенерированный ИИ, может содержать ошибки.">
            <a:extLst>
              <a:ext uri="{FF2B5EF4-FFF2-40B4-BE49-F238E27FC236}">
                <a16:creationId xmlns:a16="http://schemas.microsoft.com/office/drawing/2014/main" id="{EDB3D0C8-CC03-ED90-EC48-78DC7D72EA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2626" y="1828800"/>
            <a:ext cx="3779332" cy="4332703"/>
          </a:xfrm>
          <a:prstGeom prst="rect">
            <a:avLst/>
          </a:prstGeom>
        </p:spPr>
      </p:pic>
      <p:sp>
        <p:nvSpPr>
          <p:cNvPr id="9" name="TextBox 8">
            <a:extLst>
              <a:ext uri="{FF2B5EF4-FFF2-40B4-BE49-F238E27FC236}">
                <a16:creationId xmlns:a16="http://schemas.microsoft.com/office/drawing/2014/main" id="{612480B2-786A-CF75-6E6A-9261596BB45C}"/>
              </a:ext>
            </a:extLst>
          </p:cNvPr>
          <p:cNvSpPr txBox="1"/>
          <p:nvPr/>
        </p:nvSpPr>
        <p:spPr>
          <a:xfrm>
            <a:off x="1363200" y="3315996"/>
            <a:ext cx="5572125" cy="1754326"/>
          </a:xfrm>
          <a:prstGeom prst="rect">
            <a:avLst/>
          </a:prstGeom>
          <a:noFill/>
        </p:spPr>
        <p:txBody>
          <a:bodyPr wrap="square" rtlCol="0">
            <a:spAutoFit/>
          </a:bodyPr>
          <a:lstStyle/>
          <a:p>
            <a:r>
              <a:rPr lang="en-US" dirty="0"/>
              <a:t>Z2 </a:t>
            </a:r>
            <a:r>
              <a:rPr lang="ru-RU" dirty="0"/>
              <a:t>и</a:t>
            </a:r>
            <a:r>
              <a:rPr lang="en-US" dirty="0"/>
              <a:t> Z</a:t>
            </a:r>
            <a:r>
              <a:rPr lang="ru-RU" dirty="0"/>
              <a:t>6 вытесняют друг друга</a:t>
            </a:r>
          </a:p>
          <a:p>
            <a:endParaRPr lang="ru-RU" dirty="0"/>
          </a:p>
          <a:p>
            <a:r>
              <a:rPr lang="ru-RU" dirty="0"/>
              <a:t> </a:t>
            </a:r>
            <a:r>
              <a:rPr lang="en-US" dirty="0"/>
              <a:t>Z3 </a:t>
            </a:r>
            <a:r>
              <a:rPr lang="ru-RU" dirty="0"/>
              <a:t>был в принципе нерелевантен, а значит он и условно нерелевантен</a:t>
            </a:r>
          </a:p>
          <a:p>
            <a:endParaRPr lang="ru-RU" dirty="0"/>
          </a:p>
          <a:p>
            <a:r>
              <a:rPr lang="en-US" dirty="0"/>
              <a:t>Z5 –</a:t>
            </a:r>
            <a:r>
              <a:rPr lang="ru-RU" dirty="0"/>
              <a:t> релевантен</a:t>
            </a:r>
          </a:p>
        </p:txBody>
      </p:sp>
    </p:spTree>
    <p:extLst>
      <p:ext uri="{BB962C8B-B14F-4D97-AF65-F5344CB8AC3E}">
        <p14:creationId xmlns:p14="http://schemas.microsoft.com/office/powerpoint/2010/main" val="4256199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4" name="Рисунок 3">
            <a:extLst>
              <a:ext uri="{FF2B5EF4-FFF2-40B4-BE49-F238E27FC236}">
                <a16:creationId xmlns:a16="http://schemas.microsoft.com/office/drawing/2014/main" id="{94FA2FD8-E9AC-E0C2-4A8A-7253165644E7}"/>
              </a:ext>
            </a:extLst>
          </p:cNvPr>
          <p:cNvPicPr>
            <a:picLocks noChangeAspect="1"/>
          </p:cNvPicPr>
          <p:nvPr/>
        </p:nvPicPr>
        <p:blipFill>
          <a:blip r:embed="rId3"/>
          <a:stretch>
            <a:fillRect/>
          </a:stretch>
        </p:blipFill>
        <p:spPr>
          <a:xfrm>
            <a:off x="394151" y="2438252"/>
            <a:ext cx="3400900" cy="2114845"/>
          </a:xfrm>
          <a:prstGeom prst="rect">
            <a:avLst/>
          </a:prstGeom>
        </p:spPr>
      </p:pic>
    </p:spTree>
    <p:extLst>
      <p:ext uri="{BB962C8B-B14F-4D97-AF65-F5344CB8AC3E}">
        <p14:creationId xmlns:p14="http://schemas.microsoft.com/office/powerpoint/2010/main" val="2713977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4" name="Рисунок 3">
            <a:extLst>
              <a:ext uri="{FF2B5EF4-FFF2-40B4-BE49-F238E27FC236}">
                <a16:creationId xmlns:a16="http://schemas.microsoft.com/office/drawing/2014/main" id="{94FA2FD8-E9AC-E0C2-4A8A-7253165644E7}"/>
              </a:ext>
            </a:extLst>
          </p:cNvPr>
          <p:cNvPicPr>
            <a:picLocks noChangeAspect="1"/>
          </p:cNvPicPr>
          <p:nvPr/>
        </p:nvPicPr>
        <p:blipFill>
          <a:blip r:embed="rId3"/>
          <a:stretch>
            <a:fillRect/>
          </a:stretch>
        </p:blipFill>
        <p:spPr>
          <a:xfrm>
            <a:off x="394151" y="2438252"/>
            <a:ext cx="3400900" cy="2114845"/>
          </a:xfrm>
          <a:prstGeom prst="rect">
            <a:avLst/>
          </a:prstGeom>
        </p:spPr>
      </p:pic>
      <p:pic>
        <p:nvPicPr>
          <p:cNvPr id="3" name="Рисунок 2">
            <a:extLst>
              <a:ext uri="{FF2B5EF4-FFF2-40B4-BE49-F238E27FC236}">
                <a16:creationId xmlns:a16="http://schemas.microsoft.com/office/drawing/2014/main" id="{AA7E70B8-24E5-D5E7-828A-9BACF8E0BA1C}"/>
              </a:ext>
            </a:extLst>
          </p:cNvPr>
          <p:cNvPicPr>
            <a:picLocks noChangeAspect="1"/>
          </p:cNvPicPr>
          <p:nvPr/>
        </p:nvPicPr>
        <p:blipFill>
          <a:blip r:embed="rId4"/>
          <a:stretch>
            <a:fillRect/>
          </a:stretch>
        </p:blipFill>
        <p:spPr>
          <a:xfrm>
            <a:off x="585898" y="5100570"/>
            <a:ext cx="3238952" cy="962159"/>
          </a:xfrm>
          <a:prstGeom prst="rect">
            <a:avLst/>
          </a:prstGeom>
        </p:spPr>
      </p:pic>
    </p:spTree>
    <p:extLst>
      <p:ext uri="{BB962C8B-B14F-4D97-AF65-F5344CB8AC3E}">
        <p14:creationId xmlns:p14="http://schemas.microsoft.com/office/powerpoint/2010/main" val="1859562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4" name="Рисунок 3">
            <a:extLst>
              <a:ext uri="{FF2B5EF4-FFF2-40B4-BE49-F238E27FC236}">
                <a16:creationId xmlns:a16="http://schemas.microsoft.com/office/drawing/2014/main" id="{94FA2FD8-E9AC-E0C2-4A8A-7253165644E7}"/>
              </a:ext>
            </a:extLst>
          </p:cNvPr>
          <p:cNvPicPr>
            <a:picLocks noChangeAspect="1"/>
          </p:cNvPicPr>
          <p:nvPr/>
        </p:nvPicPr>
        <p:blipFill>
          <a:blip r:embed="rId3"/>
          <a:stretch>
            <a:fillRect/>
          </a:stretch>
        </p:blipFill>
        <p:spPr>
          <a:xfrm>
            <a:off x="394151" y="2438252"/>
            <a:ext cx="3400900" cy="2114845"/>
          </a:xfrm>
          <a:prstGeom prst="rect">
            <a:avLst/>
          </a:prstGeom>
        </p:spPr>
      </p:pic>
      <p:pic>
        <p:nvPicPr>
          <p:cNvPr id="3" name="Рисунок 2">
            <a:extLst>
              <a:ext uri="{FF2B5EF4-FFF2-40B4-BE49-F238E27FC236}">
                <a16:creationId xmlns:a16="http://schemas.microsoft.com/office/drawing/2014/main" id="{AA7E70B8-24E5-D5E7-828A-9BACF8E0BA1C}"/>
              </a:ext>
            </a:extLst>
          </p:cNvPr>
          <p:cNvPicPr>
            <a:picLocks noChangeAspect="1"/>
          </p:cNvPicPr>
          <p:nvPr/>
        </p:nvPicPr>
        <p:blipFill>
          <a:blip r:embed="rId4"/>
          <a:stretch>
            <a:fillRect/>
          </a:stretch>
        </p:blipFill>
        <p:spPr>
          <a:xfrm>
            <a:off x="585898" y="5100570"/>
            <a:ext cx="3238952" cy="962159"/>
          </a:xfrm>
          <a:prstGeom prst="rect">
            <a:avLst/>
          </a:prstGeom>
        </p:spPr>
      </p:pic>
      <p:pic>
        <p:nvPicPr>
          <p:cNvPr id="9" name="Рисунок 8">
            <a:extLst>
              <a:ext uri="{FF2B5EF4-FFF2-40B4-BE49-F238E27FC236}">
                <a16:creationId xmlns:a16="http://schemas.microsoft.com/office/drawing/2014/main" id="{EA346660-F023-9123-FA3F-4E64B06B2565}"/>
              </a:ext>
            </a:extLst>
          </p:cNvPr>
          <p:cNvPicPr>
            <a:picLocks noChangeAspect="1"/>
          </p:cNvPicPr>
          <p:nvPr/>
        </p:nvPicPr>
        <p:blipFill>
          <a:blip r:embed="rId5"/>
          <a:stretch>
            <a:fillRect/>
          </a:stretch>
        </p:blipFill>
        <p:spPr>
          <a:xfrm>
            <a:off x="4494213" y="2191828"/>
            <a:ext cx="3581900" cy="1047896"/>
          </a:xfrm>
          <a:prstGeom prst="rect">
            <a:avLst/>
          </a:prstGeom>
        </p:spPr>
      </p:pic>
    </p:spTree>
    <p:extLst>
      <p:ext uri="{BB962C8B-B14F-4D97-AF65-F5344CB8AC3E}">
        <p14:creationId xmlns:p14="http://schemas.microsoft.com/office/powerpoint/2010/main" val="3862135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4" name="Рисунок 3">
            <a:extLst>
              <a:ext uri="{FF2B5EF4-FFF2-40B4-BE49-F238E27FC236}">
                <a16:creationId xmlns:a16="http://schemas.microsoft.com/office/drawing/2014/main" id="{94FA2FD8-E9AC-E0C2-4A8A-7253165644E7}"/>
              </a:ext>
            </a:extLst>
          </p:cNvPr>
          <p:cNvPicPr>
            <a:picLocks noChangeAspect="1"/>
          </p:cNvPicPr>
          <p:nvPr/>
        </p:nvPicPr>
        <p:blipFill>
          <a:blip r:embed="rId3"/>
          <a:stretch>
            <a:fillRect/>
          </a:stretch>
        </p:blipFill>
        <p:spPr>
          <a:xfrm>
            <a:off x="394151" y="2438252"/>
            <a:ext cx="3400900" cy="2114845"/>
          </a:xfrm>
          <a:prstGeom prst="rect">
            <a:avLst/>
          </a:prstGeom>
        </p:spPr>
      </p:pic>
      <p:pic>
        <p:nvPicPr>
          <p:cNvPr id="3" name="Рисунок 2">
            <a:extLst>
              <a:ext uri="{FF2B5EF4-FFF2-40B4-BE49-F238E27FC236}">
                <a16:creationId xmlns:a16="http://schemas.microsoft.com/office/drawing/2014/main" id="{AA7E70B8-24E5-D5E7-828A-9BACF8E0BA1C}"/>
              </a:ext>
            </a:extLst>
          </p:cNvPr>
          <p:cNvPicPr>
            <a:picLocks noChangeAspect="1"/>
          </p:cNvPicPr>
          <p:nvPr/>
        </p:nvPicPr>
        <p:blipFill>
          <a:blip r:embed="rId4"/>
          <a:stretch>
            <a:fillRect/>
          </a:stretch>
        </p:blipFill>
        <p:spPr>
          <a:xfrm>
            <a:off x="585898" y="5100570"/>
            <a:ext cx="3238952" cy="962159"/>
          </a:xfrm>
          <a:prstGeom prst="rect">
            <a:avLst/>
          </a:prstGeom>
        </p:spPr>
      </p:pic>
      <p:pic>
        <p:nvPicPr>
          <p:cNvPr id="9" name="Рисунок 8">
            <a:extLst>
              <a:ext uri="{FF2B5EF4-FFF2-40B4-BE49-F238E27FC236}">
                <a16:creationId xmlns:a16="http://schemas.microsoft.com/office/drawing/2014/main" id="{EA346660-F023-9123-FA3F-4E64B06B2565}"/>
              </a:ext>
            </a:extLst>
          </p:cNvPr>
          <p:cNvPicPr>
            <a:picLocks noChangeAspect="1"/>
          </p:cNvPicPr>
          <p:nvPr/>
        </p:nvPicPr>
        <p:blipFill>
          <a:blip r:embed="rId5"/>
          <a:stretch>
            <a:fillRect/>
          </a:stretch>
        </p:blipFill>
        <p:spPr>
          <a:xfrm>
            <a:off x="4494213" y="2191828"/>
            <a:ext cx="3581900" cy="1047896"/>
          </a:xfrm>
          <a:prstGeom prst="rect">
            <a:avLst/>
          </a:prstGeom>
        </p:spPr>
      </p:pic>
      <p:pic>
        <p:nvPicPr>
          <p:cNvPr id="10" name="Рисунок 9">
            <a:extLst>
              <a:ext uri="{FF2B5EF4-FFF2-40B4-BE49-F238E27FC236}">
                <a16:creationId xmlns:a16="http://schemas.microsoft.com/office/drawing/2014/main" id="{17B169D7-EC2C-5FE0-2629-868271B7FBDD}"/>
              </a:ext>
            </a:extLst>
          </p:cNvPr>
          <p:cNvPicPr>
            <a:picLocks noChangeAspect="1"/>
          </p:cNvPicPr>
          <p:nvPr/>
        </p:nvPicPr>
        <p:blipFill>
          <a:blip r:embed="rId6"/>
          <a:stretch>
            <a:fillRect/>
          </a:stretch>
        </p:blipFill>
        <p:spPr>
          <a:xfrm>
            <a:off x="4494213" y="3417683"/>
            <a:ext cx="2934109" cy="1009791"/>
          </a:xfrm>
          <a:prstGeom prst="rect">
            <a:avLst/>
          </a:prstGeom>
        </p:spPr>
      </p:pic>
      <p:pic>
        <p:nvPicPr>
          <p:cNvPr id="12" name="Рисунок 11">
            <a:extLst>
              <a:ext uri="{FF2B5EF4-FFF2-40B4-BE49-F238E27FC236}">
                <a16:creationId xmlns:a16="http://schemas.microsoft.com/office/drawing/2014/main" id="{F303D693-BB02-759B-9DEA-F99C6D8EF983}"/>
              </a:ext>
            </a:extLst>
          </p:cNvPr>
          <p:cNvPicPr>
            <a:picLocks noChangeAspect="1"/>
          </p:cNvPicPr>
          <p:nvPr/>
        </p:nvPicPr>
        <p:blipFill>
          <a:blip r:embed="rId7"/>
          <a:stretch>
            <a:fillRect/>
          </a:stretch>
        </p:blipFill>
        <p:spPr>
          <a:xfrm>
            <a:off x="4610168" y="4642889"/>
            <a:ext cx="4420217" cy="876422"/>
          </a:xfrm>
          <a:prstGeom prst="rect">
            <a:avLst/>
          </a:prstGeom>
        </p:spPr>
      </p:pic>
    </p:spTree>
    <p:extLst>
      <p:ext uri="{BB962C8B-B14F-4D97-AF65-F5344CB8AC3E}">
        <p14:creationId xmlns:p14="http://schemas.microsoft.com/office/powerpoint/2010/main" val="3770990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9" name="Рисунок 8">
            <a:extLst>
              <a:ext uri="{FF2B5EF4-FFF2-40B4-BE49-F238E27FC236}">
                <a16:creationId xmlns:a16="http://schemas.microsoft.com/office/drawing/2014/main" id="{EA346660-F023-9123-FA3F-4E64B06B2565}"/>
              </a:ext>
            </a:extLst>
          </p:cNvPr>
          <p:cNvPicPr>
            <a:picLocks noChangeAspect="1"/>
          </p:cNvPicPr>
          <p:nvPr/>
        </p:nvPicPr>
        <p:blipFill>
          <a:blip r:embed="rId3"/>
          <a:stretch>
            <a:fillRect/>
          </a:stretch>
        </p:blipFill>
        <p:spPr>
          <a:xfrm>
            <a:off x="525054" y="2381104"/>
            <a:ext cx="3581900" cy="1047896"/>
          </a:xfrm>
          <a:prstGeom prst="rect">
            <a:avLst/>
          </a:prstGeom>
        </p:spPr>
      </p:pic>
      <p:pic>
        <p:nvPicPr>
          <p:cNvPr id="10" name="Рисунок 9">
            <a:extLst>
              <a:ext uri="{FF2B5EF4-FFF2-40B4-BE49-F238E27FC236}">
                <a16:creationId xmlns:a16="http://schemas.microsoft.com/office/drawing/2014/main" id="{17B169D7-EC2C-5FE0-2629-868271B7FBDD}"/>
              </a:ext>
            </a:extLst>
          </p:cNvPr>
          <p:cNvPicPr>
            <a:picLocks noChangeAspect="1"/>
          </p:cNvPicPr>
          <p:nvPr/>
        </p:nvPicPr>
        <p:blipFill>
          <a:blip r:embed="rId4"/>
          <a:stretch>
            <a:fillRect/>
          </a:stretch>
        </p:blipFill>
        <p:spPr>
          <a:xfrm>
            <a:off x="452626" y="3429000"/>
            <a:ext cx="2934109" cy="1009791"/>
          </a:xfrm>
          <a:prstGeom prst="rect">
            <a:avLst/>
          </a:prstGeom>
        </p:spPr>
      </p:pic>
      <p:pic>
        <p:nvPicPr>
          <p:cNvPr id="12" name="Рисунок 11">
            <a:extLst>
              <a:ext uri="{FF2B5EF4-FFF2-40B4-BE49-F238E27FC236}">
                <a16:creationId xmlns:a16="http://schemas.microsoft.com/office/drawing/2014/main" id="{F303D693-BB02-759B-9DEA-F99C6D8EF983}"/>
              </a:ext>
            </a:extLst>
          </p:cNvPr>
          <p:cNvPicPr>
            <a:picLocks noChangeAspect="1"/>
          </p:cNvPicPr>
          <p:nvPr/>
        </p:nvPicPr>
        <p:blipFill>
          <a:blip r:embed="rId5"/>
          <a:stretch>
            <a:fillRect/>
          </a:stretch>
        </p:blipFill>
        <p:spPr>
          <a:xfrm>
            <a:off x="610654" y="4751369"/>
            <a:ext cx="4420217" cy="876422"/>
          </a:xfrm>
          <a:prstGeom prst="rect">
            <a:avLst/>
          </a:prstGeom>
        </p:spPr>
      </p:pic>
    </p:spTree>
    <p:extLst>
      <p:ext uri="{BB962C8B-B14F-4D97-AF65-F5344CB8AC3E}">
        <p14:creationId xmlns:p14="http://schemas.microsoft.com/office/powerpoint/2010/main" val="3410065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partial_monte_carlo.py</a:t>
            </a:r>
            <a:br>
              <a:rPr lang="it-IT" b="1" dirty="0">
                <a:effectLst/>
              </a:rPr>
            </a:br>
            <a:br>
              <a:rPr lang="it-IT" b="0" i="0" dirty="0">
                <a:solidFill>
                  <a:srgbClr val="F0F6FC"/>
                </a:solidFill>
                <a:effectLst/>
                <a:latin typeface="-apple-system"/>
              </a:rPr>
            </a:br>
            <a:endParaRPr lang="ru-RU" b="1" dirty="0"/>
          </a:p>
        </p:txBody>
      </p:sp>
      <p:pic>
        <p:nvPicPr>
          <p:cNvPr id="9" name="Рисунок 8">
            <a:extLst>
              <a:ext uri="{FF2B5EF4-FFF2-40B4-BE49-F238E27FC236}">
                <a16:creationId xmlns:a16="http://schemas.microsoft.com/office/drawing/2014/main" id="{EA346660-F023-9123-FA3F-4E64B06B2565}"/>
              </a:ext>
            </a:extLst>
          </p:cNvPr>
          <p:cNvPicPr>
            <a:picLocks noChangeAspect="1"/>
          </p:cNvPicPr>
          <p:nvPr/>
        </p:nvPicPr>
        <p:blipFill>
          <a:blip r:embed="rId3"/>
          <a:stretch>
            <a:fillRect/>
          </a:stretch>
        </p:blipFill>
        <p:spPr>
          <a:xfrm>
            <a:off x="525054" y="2381104"/>
            <a:ext cx="3581900" cy="1047896"/>
          </a:xfrm>
          <a:prstGeom prst="rect">
            <a:avLst/>
          </a:prstGeom>
        </p:spPr>
      </p:pic>
      <p:pic>
        <p:nvPicPr>
          <p:cNvPr id="10" name="Рисунок 9">
            <a:extLst>
              <a:ext uri="{FF2B5EF4-FFF2-40B4-BE49-F238E27FC236}">
                <a16:creationId xmlns:a16="http://schemas.microsoft.com/office/drawing/2014/main" id="{17B169D7-EC2C-5FE0-2629-868271B7FBDD}"/>
              </a:ext>
            </a:extLst>
          </p:cNvPr>
          <p:cNvPicPr>
            <a:picLocks noChangeAspect="1"/>
          </p:cNvPicPr>
          <p:nvPr/>
        </p:nvPicPr>
        <p:blipFill>
          <a:blip r:embed="rId4"/>
          <a:stretch>
            <a:fillRect/>
          </a:stretch>
        </p:blipFill>
        <p:spPr>
          <a:xfrm>
            <a:off x="452626" y="3429000"/>
            <a:ext cx="2934109" cy="1009791"/>
          </a:xfrm>
          <a:prstGeom prst="rect">
            <a:avLst/>
          </a:prstGeom>
        </p:spPr>
      </p:pic>
      <p:pic>
        <p:nvPicPr>
          <p:cNvPr id="12" name="Рисунок 11">
            <a:extLst>
              <a:ext uri="{FF2B5EF4-FFF2-40B4-BE49-F238E27FC236}">
                <a16:creationId xmlns:a16="http://schemas.microsoft.com/office/drawing/2014/main" id="{F303D693-BB02-759B-9DEA-F99C6D8EF983}"/>
              </a:ext>
            </a:extLst>
          </p:cNvPr>
          <p:cNvPicPr>
            <a:picLocks noChangeAspect="1"/>
          </p:cNvPicPr>
          <p:nvPr/>
        </p:nvPicPr>
        <p:blipFill>
          <a:blip r:embed="rId5"/>
          <a:stretch>
            <a:fillRect/>
          </a:stretch>
        </p:blipFill>
        <p:spPr>
          <a:xfrm>
            <a:off x="610654" y="4751369"/>
            <a:ext cx="4420217" cy="876422"/>
          </a:xfrm>
          <a:prstGeom prst="rect">
            <a:avLst/>
          </a:prstGeom>
        </p:spPr>
      </p:pic>
      <p:pic>
        <p:nvPicPr>
          <p:cNvPr id="3" name="Рисунок 2">
            <a:extLst>
              <a:ext uri="{FF2B5EF4-FFF2-40B4-BE49-F238E27FC236}">
                <a16:creationId xmlns:a16="http://schemas.microsoft.com/office/drawing/2014/main" id="{CBD9FD6E-A378-0425-99B8-27049847A73B}"/>
              </a:ext>
            </a:extLst>
          </p:cNvPr>
          <p:cNvPicPr>
            <a:picLocks noChangeAspect="1"/>
          </p:cNvPicPr>
          <p:nvPr/>
        </p:nvPicPr>
        <p:blipFill>
          <a:blip r:embed="rId6"/>
          <a:stretch>
            <a:fillRect/>
          </a:stretch>
        </p:blipFill>
        <p:spPr>
          <a:xfrm>
            <a:off x="5931364" y="2442215"/>
            <a:ext cx="3715268" cy="895475"/>
          </a:xfrm>
          <a:prstGeom prst="rect">
            <a:avLst/>
          </a:prstGeom>
        </p:spPr>
      </p:pic>
      <p:pic>
        <p:nvPicPr>
          <p:cNvPr id="11" name="Рисунок 10">
            <a:extLst>
              <a:ext uri="{FF2B5EF4-FFF2-40B4-BE49-F238E27FC236}">
                <a16:creationId xmlns:a16="http://schemas.microsoft.com/office/drawing/2014/main" id="{832CD69A-9B62-1CA7-85E2-E0701C17AAC3}"/>
              </a:ext>
            </a:extLst>
          </p:cNvPr>
          <p:cNvPicPr>
            <a:picLocks noChangeAspect="1"/>
          </p:cNvPicPr>
          <p:nvPr/>
        </p:nvPicPr>
        <p:blipFill>
          <a:blip r:embed="rId7"/>
          <a:stretch>
            <a:fillRect/>
          </a:stretch>
        </p:blipFill>
        <p:spPr>
          <a:xfrm>
            <a:off x="6176983" y="3453959"/>
            <a:ext cx="2391109" cy="790685"/>
          </a:xfrm>
          <a:prstGeom prst="rect">
            <a:avLst/>
          </a:prstGeom>
        </p:spPr>
      </p:pic>
      <p:pic>
        <p:nvPicPr>
          <p:cNvPr id="14" name="Рисунок 13">
            <a:extLst>
              <a:ext uri="{FF2B5EF4-FFF2-40B4-BE49-F238E27FC236}">
                <a16:creationId xmlns:a16="http://schemas.microsoft.com/office/drawing/2014/main" id="{0D1974EE-F923-0D96-8475-312B951C28FC}"/>
              </a:ext>
            </a:extLst>
          </p:cNvPr>
          <p:cNvPicPr>
            <a:picLocks noChangeAspect="1"/>
          </p:cNvPicPr>
          <p:nvPr/>
        </p:nvPicPr>
        <p:blipFill>
          <a:blip r:embed="rId8"/>
          <a:stretch>
            <a:fillRect/>
          </a:stretch>
        </p:blipFill>
        <p:spPr>
          <a:xfrm>
            <a:off x="6167930" y="4365552"/>
            <a:ext cx="2629267" cy="771633"/>
          </a:xfrm>
          <a:prstGeom prst="rect">
            <a:avLst/>
          </a:prstGeom>
        </p:spPr>
      </p:pic>
      <p:pic>
        <p:nvPicPr>
          <p:cNvPr id="16" name="Рисунок 15">
            <a:extLst>
              <a:ext uri="{FF2B5EF4-FFF2-40B4-BE49-F238E27FC236}">
                <a16:creationId xmlns:a16="http://schemas.microsoft.com/office/drawing/2014/main" id="{33193E17-7228-6C5A-18A5-AED85215A4A0}"/>
              </a:ext>
            </a:extLst>
          </p:cNvPr>
          <p:cNvPicPr>
            <a:picLocks noChangeAspect="1"/>
          </p:cNvPicPr>
          <p:nvPr/>
        </p:nvPicPr>
        <p:blipFill>
          <a:blip r:embed="rId9"/>
          <a:stretch>
            <a:fillRect/>
          </a:stretch>
        </p:blipFill>
        <p:spPr>
          <a:xfrm>
            <a:off x="6114236" y="5189580"/>
            <a:ext cx="1352739" cy="552527"/>
          </a:xfrm>
          <a:prstGeom prst="rect">
            <a:avLst/>
          </a:prstGeom>
        </p:spPr>
      </p:pic>
      <p:pic>
        <p:nvPicPr>
          <p:cNvPr id="18" name="Рисунок 17">
            <a:extLst>
              <a:ext uri="{FF2B5EF4-FFF2-40B4-BE49-F238E27FC236}">
                <a16:creationId xmlns:a16="http://schemas.microsoft.com/office/drawing/2014/main" id="{E03E665B-0752-0526-D3FE-B31C58D44254}"/>
              </a:ext>
            </a:extLst>
          </p:cNvPr>
          <p:cNvPicPr>
            <a:picLocks noChangeAspect="1"/>
          </p:cNvPicPr>
          <p:nvPr/>
        </p:nvPicPr>
        <p:blipFill>
          <a:blip r:embed="rId10"/>
          <a:stretch>
            <a:fillRect/>
          </a:stretch>
        </p:blipFill>
        <p:spPr>
          <a:xfrm>
            <a:off x="6259891" y="5888783"/>
            <a:ext cx="1267002" cy="552527"/>
          </a:xfrm>
          <a:prstGeom prst="rect">
            <a:avLst/>
          </a:prstGeom>
        </p:spPr>
      </p:pic>
    </p:spTree>
    <p:extLst>
      <p:ext uri="{BB962C8B-B14F-4D97-AF65-F5344CB8AC3E}">
        <p14:creationId xmlns:p14="http://schemas.microsoft.com/office/powerpoint/2010/main" val="105920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a:t>
            </a:r>
            <a:r>
              <a:rPr lang="ru-RU" b="1" dirty="0"/>
              <a:t>::</a:t>
            </a:r>
            <a:r>
              <a:rPr lang="en-US" b="1" dirty="0" err="1"/>
              <a:t>partial_unconditional_relevance</a:t>
            </a:r>
            <a:br>
              <a:rPr lang="it-IT" b="1" dirty="0">
                <a:effectLst/>
              </a:rPr>
            </a:br>
            <a:br>
              <a:rPr lang="it-IT" b="0" i="0" dirty="0">
                <a:solidFill>
                  <a:srgbClr val="F0F6FC"/>
                </a:solidFill>
                <a:effectLst/>
                <a:latin typeface="-apple-system"/>
              </a:rPr>
            </a:br>
            <a:endParaRPr lang="ru-RU" b="1" dirty="0"/>
          </a:p>
        </p:txBody>
      </p:sp>
      <p:sp>
        <p:nvSpPr>
          <p:cNvPr id="2" name="TextBox 1">
            <a:extLst>
              <a:ext uri="{FF2B5EF4-FFF2-40B4-BE49-F238E27FC236}">
                <a16:creationId xmlns:a16="http://schemas.microsoft.com/office/drawing/2014/main" id="{C0603D29-517F-5C25-CA1B-8927D757CD60}"/>
              </a:ext>
            </a:extLst>
          </p:cNvPr>
          <p:cNvSpPr txBox="1"/>
          <p:nvPr/>
        </p:nvSpPr>
        <p:spPr>
          <a:xfrm>
            <a:off x="426600" y="2413337"/>
            <a:ext cx="5237827" cy="2031325"/>
          </a:xfrm>
          <a:prstGeom prst="rect">
            <a:avLst/>
          </a:prstGeom>
          <a:noFill/>
        </p:spPr>
        <p:txBody>
          <a:bodyPr wrap="square" rtlCol="0">
            <a:spAutoFit/>
          </a:bodyPr>
          <a:lstStyle/>
          <a:p>
            <a:r>
              <a:rPr lang="en-US" dirty="0"/>
              <a:t>Z1 - </a:t>
            </a:r>
            <a:r>
              <a:rPr lang="ru-RU" dirty="0"/>
              <a:t>Релевантен для обоих параметров</a:t>
            </a:r>
          </a:p>
          <a:p>
            <a:endParaRPr lang="en-US" dirty="0"/>
          </a:p>
          <a:p>
            <a:r>
              <a:rPr lang="en-US" dirty="0"/>
              <a:t>Z2 – </a:t>
            </a:r>
            <a:r>
              <a:rPr lang="ru-RU" dirty="0"/>
              <a:t>только для </a:t>
            </a:r>
            <a:r>
              <a:rPr lang="en-US" dirty="0"/>
              <a:t>gamma</a:t>
            </a:r>
            <a:r>
              <a:rPr lang="ru-RU" dirty="0"/>
              <a:t>, но не для </a:t>
            </a:r>
            <a:r>
              <a:rPr lang="en-US" dirty="0"/>
              <a:t>beta</a:t>
            </a:r>
            <a:endParaRPr lang="ru-RU" dirty="0"/>
          </a:p>
          <a:p>
            <a:endParaRPr lang="ru-RU" dirty="0"/>
          </a:p>
          <a:p>
            <a:r>
              <a:rPr lang="en-US" dirty="0"/>
              <a:t>Z3 – </a:t>
            </a:r>
            <a:r>
              <a:rPr lang="ru-RU" dirty="0"/>
              <a:t>только для </a:t>
            </a:r>
            <a:r>
              <a:rPr lang="en-US" dirty="0"/>
              <a:t>beta</a:t>
            </a:r>
            <a:endParaRPr lang="ru-RU" dirty="0"/>
          </a:p>
          <a:p>
            <a:endParaRPr lang="en-US" dirty="0"/>
          </a:p>
          <a:p>
            <a:r>
              <a:rPr lang="en-US" dirty="0"/>
              <a:t>Z4, Z5 - </a:t>
            </a:r>
            <a:r>
              <a:rPr lang="ru-RU" dirty="0"/>
              <a:t>нерелевантны</a:t>
            </a:r>
            <a:endParaRPr lang="en-US" dirty="0"/>
          </a:p>
        </p:txBody>
      </p:sp>
      <p:pic>
        <p:nvPicPr>
          <p:cNvPr id="9" name="Рисунок 8" descr="Изображение выглядит как текст, диаграмма, линия, Параллельный&#10;&#10;Контент, сгенерированный ИИ, может содержать ошибки.">
            <a:extLst>
              <a:ext uri="{FF2B5EF4-FFF2-40B4-BE49-F238E27FC236}">
                <a16:creationId xmlns:a16="http://schemas.microsoft.com/office/drawing/2014/main" id="{6DCA7A56-6FFC-67E8-F607-BB1623CB9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9410" y="1974155"/>
            <a:ext cx="3916692" cy="4490174"/>
          </a:xfrm>
          <a:prstGeom prst="rect">
            <a:avLst/>
          </a:prstGeom>
        </p:spPr>
      </p:pic>
      <p:pic>
        <p:nvPicPr>
          <p:cNvPr id="10" name="Рисунок 9">
            <a:extLst>
              <a:ext uri="{FF2B5EF4-FFF2-40B4-BE49-F238E27FC236}">
                <a16:creationId xmlns:a16="http://schemas.microsoft.com/office/drawing/2014/main" id="{A866CD9A-939E-DE5F-729B-DBB048DC9DF5}"/>
              </a:ext>
            </a:extLst>
          </p:cNvPr>
          <p:cNvPicPr>
            <a:picLocks noChangeAspect="1"/>
          </p:cNvPicPr>
          <p:nvPr/>
        </p:nvPicPr>
        <p:blipFill>
          <a:blip r:embed="rId4"/>
          <a:stretch>
            <a:fillRect/>
          </a:stretch>
        </p:blipFill>
        <p:spPr>
          <a:xfrm>
            <a:off x="4939793" y="2351518"/>
            <a:ext cx="2189594" cy="527748"/>
          </a:xfrm>
          <a:prstGeom prst="rect">
            <a:avLst/>
          </a:prstGeom>
        </p:spPr>
      </p:pic>
      <p:pic>
        <p:nvPicPr>
          <p:cNvPr id="12" name="Рисунок 11">
            <a:extLst>
              <a:ext uri="{FF2B5EF4-FFF2-40B4-BE49-F238E27FC236}">
                <a16:creationId xmlns:a16="http://schemas.microsoft.com/office/drawing/2014/main" id="{18571F3C-FD4F-177B-CB4D-0DC229F55383}"/>
              </a:ext>
            </a:extLst>
          </p:cNvPr>
          <p:cNvPicPr>
            <a:picLocks noChangeAspect="1"/>
          </p:cNvPicPr>
          <p:nvPr/>
        </p:nvPicPr>
        <p:blipFill>
          <a:blip r:embed="rId5"/>
          <a:stretch>
            <a:fillRect/>
          </a:stretch>
        </p:blipFill>
        <p:spPr>
          <a:xfrm>
            <a:off x="5075501" y="2925560"/>
            <a:ext cx="1409201" cy="465991"/>
          </a:xfrm>
          <a:prstGeom prst="rect">
            <a:avLst/>
          </a:prstGeom>
        </p:spPr>
      </p:pic>
      <p:pic>
        <p:nvPicPr>
          <p:cNvPr id="13" name="Рисунок 12">
            <a:extLst>
              <a:ext uri="{FF2B5EF4-FFF2-40B4-BE49-F238E27FC236}">
                <a16:creationId xmlns:a16="http://schemas.microsoft.com/office/drawing/2014/main" id="{E0274BAA-3B61-934B-78FD-88585E98A80D}"/>
              </a:ext>
            </a:extLst>
          </p:cNvPr>
          <p:cNvPicPr>
            <a:picLocks noChangeAspect="1"/>
          </p:cNvPicPr>
          <p:nvPr/>
        </p:nvPicPr>
        <p:blipFill>
          <a:blip r:embed="rId6"/>
          <a:stretch>
            <a:fillRect/>
          </a:stretch>
        </p:blipFill>
        <p:spPr>
          <a:xfrm>
            <a:off x="5070015" y="3466450"/>
            <a:ext cx="1549559" cy="454762"/>
          </a:xfrm>
          <a:prstGeom prst="rect">
            <a:avLst/>
          </a:prstGeom>
        </p:spPr>
      </p:pic>
      <p:pic>
        <p:nvPicPr>
          <p:cNvPr id="15" name="Рисунок 14">
            <a:extLst>
              <a:ext uri="{FF2B5EF4-FFF2-40B4-BE49-F238E27FC236}">
                <a16:creationId xmlns:a16="http://schemas.microsoft.com/office/drawing/2014/main" id="{AEB604D9-C2C0-C959-10F5-980134B288F9}"/>
              </a:ext>
            </a:extLst>
          </p:cNvPr>
          <p:cNvPicPr>
            <a:picLocks noChangeAspect="1"/>
          </p:cNvPicPr>
          <p:nvPr/>
        </p:nvPicPr>
        <p:blipFill>
          <a:blip r:embed="rId7"/>
          <a:stretch>
            <a:fillRect/>
          </a:stretch>
        </p:blipFill>
        <p:spPr>
          <a:xfrm>
            <a:off x="5047557" y="4109734"/>
            <a:ext cx="797237" cy="325632"/>
          </a:xfrm>
          <a:prstGeom prst="rect">
            <a:avLst/>
          </a:prstGeom>
        </p:spPr>
      </p:pic>
      <p:pic>
        <p:nvPicPr>
          <p:cNvPr id="17" name="Рисунок 16">
            <a:extLst>
              <a:ext uri="{FF2B5EF4-FFF2-40B4-BE49-F238E27FC236}">
                <a16:creationId xmlns:a16="http://schemas.microsoft.com/office/drawing/2014/main" id="{FA528F91-6E2E-8EF8-ADAE-389871A14EB8}"/>
              </a:ext>
            </a:extLst>
          </p:cNvPr>
          <p:cNvPicPr>
            <a:picLocks noChangeAspect="1"/>
          </p:cNvPicPr>
          <p:nvPr/>
        </p:nvPicPr>
        <p:blipFill>
          <a:blip r:embed="rId8"/>
          <a:stretch>
            <a:fillRect/>
          </a:stretch>
        </p:blipFill>
        <p:spPr>
          <a:xfrm>
            <a:off x="6096000" y="4146189"/>
            <a:ext cx="746708" cy="325632"/>
          </a:xfrm>
          <a:prstGeom prst="rect">
            <a:avLst/>
          </a:prstGeom>
        </p:spPr>
      </p:pic>
    </p:spTree>
    <p:extLst>
      <p:ext uri="{BB962C8B-B14F-4D97-AF65-F5344CB8AC3E}">
        <p14:creationId xmlns:p14="http://schemas.microsoft.com/office/powerpoint/2010/main" val="680135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 моделирование </a:t>
            </a:r>
            <a:r>
              <a:rPr lang="en-US" b="1" dirty="0"/>
              <a:t>MC</a:t>
            </a:r>
            <a:br>
              <a:rPr lang="ru-RU" b="1" dirty="0"/>
            </a:br>
            <a:r>
              <a:rPr lang="it-IT" b="1" dirty="0">
                <a:effectLst/>
              </a:rPr>
              <a:t>partial_monte_carlo</a:t>
            </a:r>
            <a:r>
              <a:rPr lang="ru-RU" b="1" dirty="0"/>
              <a:t>::</a:t>
            </a:r>
            <a:r>
              <a:rPr lang="en-US" b="1" dirty="0" err="1"/>
              <a:t>partial_conditional_relevance</a:t>
            </a:r>
            <a:br>
              <a:rPr lang="it-IT" b="1" dirty="0">
                <a:effectLst/>
              </a:rPr>
            </a:br>
            <a:br>
              <a:rPr lang="it-IT" b="0" i="0" dirty="0">
                <a:solidFill>
                  <a:srgbClr val="F0F6FC"/>
                </a:solidFill>
                <a:effectLst/>
                <a:latin typeface="-apple-system"/>
              </a:rPr>
            </a:br>
            <a:endParaRPr lang="ru-RU" b="1" dirty="0"/>
          </a:p>
        </p:txBody>
      </p:sp>
      <p:sp>
        <p:nvSpPr>
          <p:cNvPr id="2" name="TextBox 1">
            <a:extLst>
              <a:ext uri="{FF2B5EF4-FFF2-40B4-BE49-F238E27FC236}">
                <a16:creationId xmlns:a16="http://schemas.microsoft.com/office/drawing/2014/main" id="{C0603D29-517F-5C25-CA1B-8927D757CD60}"/>
              </a:ext>
            </a:extLst>
          </p:cNvPr>
          <p:cNvSpPr txBox="1"/>
          <p:nvPr/>
        </p:nvSpPr>
        <p:spPr>
          <a:xfrm>
            <a:off x="426600" y="2413337"/>
            <a:ext cx="4513193" cy="3139321"/>
          </a:xfrm>
          <a:prstGeom prst="rect">
            <a:avLst/>
          </a:prstGeom>
          <a:noFill/>
        </p:spPr>
        <p:txBody>
          <a:bodyPr wrap="square" rtlCol="0">
            <a:spAutoFit/>
          </a:bodyPr>
          <a:lstStyle/>
          <a:p>
            <a:r>
              <a:rPr lang="en-US" dirty="0"/>
              <a:t>Z1 – </a:t>
            </a:r>
            <a:r>
              <a:rPr lang="ru-RU" dirty="0"/>
              <a:t>условно релевантен для обоих параметров, т.к. только он одновременно несет информацию об обоих моментах, но отдельно для </a:t>
            </a:r>
            <a:r>
              <a:rPr lang="en-US" dirty="0"/>
              <a:t>beta </a:t>
            </a:r>
            <a:r>
              <a:rPr lang="ru-RU" dirty="0"/>
              <a:t>он условно нерелевантен</a:t>
            </a:r>
          </a:p>
          <a:p>
            <a:endParaRPr lang="ru-RU" dirty="0"/>
          </a:p>
          <a:p>
            <a:r>
              <a:rPr lang="en-US" dirty="0"/>
              <a:t>Z3 – </a:t>
            </a:r>
            <a:r>
              <a:rPr lang="ru-RU" dirty="0"/>
              <a:t>условно нерелевантен для </a:t>
            </a:r>
            <a:r>
              <a:rPr lang="en-US" dirty="0"/>
              <a:t>gamma </a:t>
            </a:r>
            <a:r>
              <a:rPr lang="ru-RU" dirty="0"/>
              <a:t>по построению, а условно нерелевантен для </a:t>
            </a:r>
            <a:r>
              <a:rPr lang="en-US" dirty="0"/>
              <a:t>beta </a:t>
            </a:r>
            <a:r>
              <a:rPr lang="ru-RU" dirty="0"/>
              <a:t>из-за наличия </a:t>
            </a:r>
            <a:r>
              <a:rPr lang="en-US" dirty="0"/>
              <a:t>Z</a:t>
            </a:r>
            <a:r>
              <a:rPr lang="ru-RU" dirty="0"/>
              <a:t>1</a:t>
            </a:r>
            <a:r>
              <a:rPr lang="en-US" dirty="0"/>
              <a:t> </a:t>
            </a:r>
            <a:r>
              <a:rPr lang="ru-RU" dirty="0"/>
              <a:t>(он ЛК)</a:t>
            </a:r>
          </a:p>
          <a:p>
            <a:endParaRPr lang="en-US" dirty="0"/>
          </a:p>
          <a:p>
            <a:r>
              <a:rPr lang="en-US" dirty="0"/>
              <a:t>Z4, Z5 - </a:t>
            </a:r>
            <a:r>
              <a:rPr lang="ru-RU" dirty="0"/>
              <a:t>нерелевантны</a:t>
            </a:r>
            <a:endParaRPr lang="en-US" dirty="0"/>
          </a:p>
        </p:txBody>
      </p:sp>
      <p:pic>
        <p:nvPicPr>
          <p:cNvPr id="10" name="Рисунок 9">
            <a:extLst>
              <a:ext uri="{FF2B5EF4-FFF2-40B4-BE49-F238E27FC236}">
                <a16:creationId xmlns:a16="http://schemas.microsoft.com/office/drawing/2014/main" id="{A866CD9A-939E-DE5F-729B-DBB048DC9DF5}"/>
              </a:ext>
            </a:extLst>
          </p:cNvPr>
          <p:cNvPicPr>
            <a:picLocks noChangeAspect="1"/>
          </p:cNvPicPr>
          <p:nvPr/>
        </p:nvPicPr>
        <p:blipFill>
          <a:blip r:embed="rId3"/>
          <a:stretch>
            <a:fillRect/>
          </a:stretch>
        </p:blipFill>
        <p:spPr>
          <a:xfrm>
            <a:off x="5001203" y="2735187"/>
            <a:ext cx="2189594" cy="527748"/>
          </a:xfrm>
          <a:prstGeom prst="rect">
            <a:avLst/>
          </a:prstGeom>
        </p:spPr>
      </p:pic>
      <p:pic>
        <p:nvPicPr>
          <p:cNvPr id="13" name="Рисунок 12">
            <a:extLst>
              <a:ext uri="{FF2B5EF4-FFF2-40B4-BE49-F238E27FC236}">
                <a16:creationId xmlns:a16="http://schemas.microsoft.com/office/drawing/2014/main" id="{E0274BAA-3B61-934B-78FD-88585E98A80D}"/>
              </a:ext>
            </a:extLst>
          </p:cNvPr>
          <p:cNvPicPr>
            <a:picLocks noChangeAspect="1"/>
          </p:cNvPicPr>
          <p:nvPr/>
        </p:nvPicPr>
        <p:blipFill>
          <a:blip r:embed="rId4"/>
          <a:stretch>
            <a:fillRect/>
          </a:stretch>
        </p:blipFill>
        <p:spPr>
          <a:xfrm>
            <a:off x="5485111" y="4269435"/>
            <a:ext cx="1549559" cy="454762"/>
          </a:xfrm>
          <a:prstGeom prst="rect">
            <a:avLst/>
          </a:prstGeom>
        </p:spPr>
      </p:pic>
      <p:pic>
        <p:nvPicPr>
          <p:cNvPr id="15" name="Рисунок 14">
            <a:extLst>
              <a:ext uri="{FF2B5EF4-FFF2-40B4-BE49-F238E27FC236}">
                <a16:creationId xmlns:a16="http://schemas.microsoft.com/office/drawing/2014/main" id="{AEB604D9-C2C0-C959-10F5-980134B288F9}"/>
              </a:ext>
            </a:extLst>
          </p:cNvPr>
          <p:cNvPicPr>
            <a:picLocks noChangeAspect="1"/>
          </p:cNvPicPr>
          <p:nvPr/>
        </p:nvPicPr>
        <p:blipFill>
          <a:blip r:embed="rId5"/>
          <a:stretch>
            <a:fillRect/>
          </a:stretch>
        </p:blipFill>
        <p:spPr>
          <a:xfrm>
            <a:off x="5223237" y="5155931"/>
            <a:ext cx="797237" cy="325632"/>
          </a:xfrm>
          <a:prstGeom prst="rect">
            <a:avLst/>
          </a:prstGeom>
        </p:spPr>
      </p:pic>
      <p:pic>
        <p:nvPicPr>
          <p:cNvPr id="17" name="Рисунок 16">
            <a:extLst>
              <a:ext uri="{FF2B5EF4-FFF2-40B4-BE49-F238E27FC236}">
                <a16:creationId xmlns:a16="http://schemas.microsoft.com/office/drawing/2014/main" id="{FA528F91-6E2E-8EF8-ADAE-389871A14EB8}"/>
              </a:ext>
            </a:extLst>
          </p:cNvPr>
          <p:cNvPicPr>
            <a:picLocks noChangeAspect="1"/>
          </p:cNvPicPr>
          <p:nvPr/>
        </p:nvPicPr>
        <p:blipFill>
          <a:blip r:embed="rId6"/>
          <a:stretch>
            <a:fillRect/>
          </a:stretch>
        </p:blipFill>
        <p:spPr>
          <a:xfrm>
            <a:off x="6315208" y="5177197"/>
            <a:ext cx="746708" cy="325632"/>
          </a:xfrm>
          <a:prstGeom prst="rect">
            <a:avLst/>
          </a:prstGeom>
        </p:spPr>
      </p:pic>
      <p:pic>
        <p:nvPicPr>
          <p:cNvPr id="3" name="Рисунок 2" descr="Изображение выглядит как текст, диаграмма, линия, Параллельный&#10;&#10;Контент, сгенерированный ИИ, может содержать ошибки.">
            <a:extLst>
              <a:ext uri="{FF2B5EF4-FFF2-40B4-BE49-F238E27FC236}">
                <a16:creationId xmlns:a16="http://schemas.microsoft.com/office/drawing/2014/main" id="{F3825697-4732-614F-FA63-035CDDBC2A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49377" y="1587898"/>
            <a:ext cx="4118370" cy="4721382"/>
          </a:xfrm>
          <a:prstGeom prst="rect">
            <a:avLst/>
          </a:prstGeom>
        </p:spPr>
      </p:pic>
      <p:sp>
        <p:nvSpPr>
          <p:cNvPr id="11" name="Прямоугольник 10">
            <a:extLst>
              <a:ext uri="{FF2B5EF4-FFF2-40B4-BE49-F238E27FC236}">
                <a16:creationId xmlns:a16="http://schemas.microsoft.com/office/drawing/2014/main" id="{8918408C-8D88-F1C1-4A01-164BA393CF70}"/>
              </a:ext>
            </a:extLst>
          </p:cNvPr>
          <p:cNvSpPr/>
          <p:nvPr/>
        </p:nvSpPr>
        <p:spPr>
          <a:xfrm>
            <a:off x="9849742" y="4740722"/>
            <a:ext cx="2132707" cy="16092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ln>
                <a:solidFill>
                  <a:schemeClr val="bg1"/>
                </a:solidFill>
              </a:ln>
              <a:solidFill>
                <a:schemeClr val="bg1"/>
              </a:solidFill>
            </a:endParaRPr>
          </a:p>
        </p:txBody>
      </p:sp>
    </p:spTree>
    <p:extLst>
      <p:ext uri="{BB962C8B-B14F-4D97-AF65-F5344CB8AC3E}">
        <p14:creationId xmlns:p14="http://schemas.microsoft.com/office/powerpoint/2010/main" val="318385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a:t>
            </a:r>
            <a:r>
              <a:rPr lang="en-US" b="1" dirty="0"/>
              <a:t> </a:t>
            </a:r>
            <a:r>
              <a:rPr lang="ru-RU" b="1" dirty="0"/>
              <a:t>сбор и обработка данных</a:t>
            </a:r>
            <a:br>
              <a:rPr lang="it-IT" b="1" dirty="0">
                <a:effectLst/>
              </a:rPr>
            </a:br>
            <a:br>
              <a:rPr lang="it-IT" b="0" i="0" dirty="0">
                <a:solidFill>
                  <a:srgbClr val="F0F6FC"/>
                </a:solidFill>
                <a:effectLst/>
                <a:latin typeface="-apple-system"/>
              </a:rPr>
            </a:br>
            <a:endParaRPr lang="ru-RU" b="1" dirty="0"/>
          </a:p>
        </p:txBody>
      </p:sp>
      <p:pic>
        <p:nvPicPr>
          <p:cNvPr id="9" name="Рисунок 8">
            <a:extLst>
              <a:ext uri="{FF2B5EF4-FFF2-40B4-BE49-F238E27FC236}">
                <a16:creationId xmlns:a16="http://schemas.microsoft.com/office/drawing/2014/main" id="{DEA2CFA8-13F6-880B-74FB-B3A845B42756}"/>
              </a:ext>
            </a:extLst>
          </p:cNvPr>
          <p:cNvPicPr>
            <a:picLocks noChangeAspect="1"/>
          </p:cNvPicPr>
          <p:nvPr/>
        </p:nvPicPr>
        <p:blipFill>
          <a:blip r:embed="rId3"/>
          <a:stretch>
            <a:fillRect/>
          </a:stretch>
        </p:blipFill>
        <p:spPr>
          <a:xfrm>
            <a:off x="450970" y="2062815"/>
            <a:ext cx="7434599" cy="4254281"/>
          </a:xfrm>
          <a:prstGeom prst="rect">
            <a:avLst/>
          </a:prstGeom>
        </p:spPr>
      </p:pic>
    </p:spTree>
    <p:extLst>
      <p:ext uri="{BB962C8B-B14F-4D97-AF65-F5344CB8AC3E}">
        <p14:creationId xmlns:p14="http://schemas.microsoft.com/office/powerpoint/2010/main" val="2490070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a:t>
            </a:r>
            <a:r>
              <a:rPr lang="en-US" b="1" dirty="0"/>
              <a:t> </a:t>
            </a:r>
            <a:r>
              <a:rPr lang="ru-RU" b="1" dirty="0"/>
              <a:t>сбор и обработка данных</a:t>
            </a:r>
            <a:br>
              <a:rPr lang="it-IT" b="1" dirty="0">
                <a:effectLst/>
              </a:rPr>
            </a:br>
            <a:br>
              <a:rPr lang="it-IT" b="0" i="0" dirty="0">
                <a:solidFill>
                  <a:srgbClr val="F0F6FC"/>
                </a:solidFill>
                <a:effectLst/>
                <a:latin typeface="-apple-system"/>
              </a:rPr>
            </a:br>
            <a:endParaRPr lang="ru-RU" b="1" dirty="0"/>
          </a:p>
        </p:txBody>
      </p:sp>
      <p:pic>
        <p:nvPicPr>
          <p:cNvPr id="9" name="Рисунок 8">
            <a:extLst>
              <a:ext uri="{FF2B5EF4-FFF2-40B4-BE49-F238E27FC236}">
                <a16:creationId xmlns:a16="http://schemas.microsoft.com/office/drawing/2014/main" id="{DEA2CFA8-13F6-880B-74FB-B3A845B42756}"/>
              </a:ext>
            </a:extLst>
          </p:cNvPr>
          <p:cNvPicPr>
            <a:picLocks noChangeAspect="1"/>
          </p:cNvPicPr>
          <p:nvPr/>
        </p:nvPicPr>
        <p:blipFill>
          <a:blip r:embed="rId3"/>
          <a:stretch>
            <a:fillRect/>
          </a:stretch>
        </p:blipFill>
        <p:spPr>
          <a:xfrm>
            <a:off x="450970" y="2062815"/>
            <a:ext cx="7434599" cy="4254281"/>
          </a:xfrm>
          <a:prstGeom prst="rect">
            <a:avLst/>
          </a:prstGeom>
        </p:spPr>
      </p:pic>
      <p:sp>
        <p:nvSpPr>
          <p:cNvPr id="2" name="TextBox 1">
            <a:extLst>
              <a:ext uri="{FF2B5EF4-FFF2-40B4-BE49-F238E27FC236}">
                <a16:creationId xmlns:a16="http://schemas.microsoft.com/office/drawing/2014/main" id="{FC60E7A7-F71B-AAEB-66DC-C6742BA7C51A}"/>
              </a:ext>
            </a:extLst>
          </p:cNvPr>
          <p:cNvSpPr txBox="1"/>
          <p:nvPr/>
        </p:nvSpPr>
        <p:spPr>
          <a:xfrm>
            <a:off x="9134947" y="3510481"/>
            <a:ext cx="2734147" cy="369332"/>
          </a:xfrm>
          <a:prstGeom prst="rect">
            <a:avLst/>
          </a:prstGeom>
          <a:noFill/>
        </p:spPr>
        <p:txBody>
          <a:bodyPr wrap="square" rtlCol="0">
            <a:spAutoFit/>
          </a:bodyPr>
          <a:lstStyle/>
          <a:p>
            <a:r>
              <a:rPr lang="ru-RU" dirty="0"/>
              <a:t>Собрал и обработал</a:t>
            </a:r>
          </a:p>
        </p:txBody>
      </p:sp>
    </p:spTree>
    <p:extLst>
      <p:ext uri="{BB962C8B-B14F-4D97-AF65-F5344CB8AC3E}">
        <p14:creationId xmlns:p14="http://schemas.microsoft.com/office/powerpoint/2010/main" val="2403708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a:t>
            </a:r>
            <a:r>
              <a:rPr lang="en-US" b="1" dirty="0"/>
              <a:t> </a:t>
            </a:r>
            <a:r>
              <a:rPr lang="ru-RU" b="1" dirty="0"/>
              <a:t>сбор и обработка данных</a:t>
            </a:r>
            <a:br>
              <a:rPr lang="it-IT" b="1" dirty="0">
                <a:effectLst/>
              </a:rPr>
            </a:br>
            <a:br>
              <a:rPr lang="it-IT" b="0" i="0" dirty="0">
                <a:solidFill>
                  <a:srgbClr val="F0F6FC"/>
                </a:solidFill>
                <a:effectLst/>
                <a:latin typeface="-apple-system"/>
              </a:rPr>
            </a:br>
            <a:endParaRPr lang="ru-RU" b="1" dirty="0"/>
          </a:p>
        </p:txBody>
      </p:sp>
      <p:pic>
        <p:nvPicPr>
          <p:cNvPr id="4" name="Рисунок 3">
            <a:extLst>
              <a:ext uri="{FF2B5EF4-FFF2-40B4-BE49-F238E27FC236}">
                <a16:creationId xmlns:a16="http://schemas.microsoft.com/office/drawing/2014/main" id="{5833AF4D-6D93-8D10-605F-190A7E6BBF82}"/>
              </a:ext>
            </a:extLst>
          </p:cNvPr>
          <p:cNvPicPr>
            <a:picLocks noChangeAspect="1"/>
          </p:cNvPicPr>
          <p:nvPr/>
        </p:nvPicPr>
        <p:blipFill>
          <a:blip r:embed="rId3"/>
          <a:stretch>
            <a:fillRect/>
          </a:stretch>
        </p:blipFill>
        <p:spPr>
          <a:xfrm>
            <a:off x="341116" y="2431708"/>
            <a:ext cx="11364911" cy="3077004"/>
          </a:xfrm>
          <a:prstGeom prst="rect">
            <a:avLst/>
          </a:prstGeom>
        </p:spPr>
      </p:pic>
      <p:sp>
        <p:nvSpPr>
          <p:cNvPr id="11" name="TextBox 10">
            <a:extLst>
              <a:ext uri="{FF2B5EF4-FFF2-40B4-BE49-F238E27FC236}">
                <a16:creationId xmlns:a16="http://schemas.microsoft.com/office/drawing/2014/main" id="{76276701-3184-AB60-91C8-E639C920988A}"/>
              </a:ext>
            </a:extLst>
          </p:cNvPr>
          <p:cNvSpPr txBox="1"/>
          <p:nvPr/>
        </p:nvSpPr>
        <p:spPr>
          <a:xfrm>
            <a:off x="585898" y="5947764"/>
            <a:ext cx="8304605" cy="369332"/>
          </a:xfrm>
          <a:prstGeom prst="rect">
            <a:avLst/>
          </a:prstGeom>
          <a:noFill/>
        </p:spPr>
        <p:txBody>
          <a:bodyPr wrap="square" rtlCol="0">
            <a:spAutoFit/>
          </a:bodyPr>
          <a:lstStyle/>
          <a:p>
            <a:r>
              <a:rPr lang="ru-RU" dirty="0"/>
              <a:t>После обработки имеем 51 признак (изначально было 92)</a:t>
            </a:r>
          </a:p>
        </p:txBody>
      </p:sp>
    </p:spTree>
    <p:extLst>
      <p:ext uri="{BB962C8B-B14F-4D97-AF65-F5344CB8AC3E}">
        <p14:creationId xmlns:p14="http://schemas.microsoft.com/office/powerpoint/2010/main" val="3743692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a:t>
            </a:r>
            <a:r>
              <a:rPr lang="en-US" b="1" dirty="0"/>
              <a:t> </a:t>
            </a:r>
            <a:r>
              <a:rPr lang="ru-RU" b="1" dirty="0"/>
              <a:t>селекция моментных условий и их классификация</a:t>
            </a:r>
            <a:br>
              <a:rPr lang="it-IT" b="1" dirty="0">
                <a:effectLst/>
              </a:rPr>
            </a:br>
            <a:br>
              <a:rPr lang="it-IT" b="0" i="0" dirty="0">
                <a:solidFill>
                  <a:srgbClr val="F0F6FC"/>
                </a:solidFill>
                <a:effectLst/>
                <a:latin typeface="-apple-system"/>
              </a:rPr>
            </a:br>
            <a:endParaRPr lang="ru-RU" b="1" dirty="0"/>
          </a:p>
        </p:txBody>
      </p:sp>
      <p:sp>
        <p:nvSpPr>
          <p:cNvPr id="2" name="TextBox 1">
            <a:extLst>
              <a:ext uri="{FF2B5EF4-FFF2-40B4-BE49-F238E27FC236}">
                <a16:creationId xmlns:a16="http://schemas.microsoft.com/office/drawing/2014/main" id="{7BE2ADCD-C31E-F118-4D55-FCF8D333E3B7}"/>
              </a:ext>
            </a:extLst>
          </p:cNvPr>
          <p:cNvSpPr txBox="1"/>
          <p:nvPr/>
        </p:nvSpPr>
        <p:spPr>
          <a:xfrm>
            <a:off x="585898" y="2437241"/>
            <a:ext cx="3123445" cy="369332"/>
          </a:xfrm>
          <a:prstGeom prst="rect">
            <a:avLst/>
          </a:prstGeom>
          <a:noFill/>
        </p:spPr>
        <p:txBody>
          <a:bodyPr wrap="square" rtlCol="0">
            <a:spAutoFit/>
          </a:bodyPr>
          <a:lstStyle/>
          <a:p>
            <a:r>
              <a:rPr lang="ru-RU" dirty="0"/>
              <a:t>В ходе работы...</a:t>
            </a:r>
          </a:p>
        </p:txBody>
      </p:sp>
      <p:pic>
        <p:nvPicPr>
          <p:cNvPr id="9" name="Рисунок 8">
            <a:extLst>
              <a:ext uri="{FF2B5EF4-FFF2-40B4-BE49-F238E27FC236}">
                <a16:creationId xmlns:a16="http://schemas.microsoft.com/office/drawing/2014/main" id="{51ACA7EA-C594-5EEC-4637-CA58F5AE3188}"/>
              </a:ext>
            </a:extLst>
          </p:cNvPr>
          <p:cNvPicPr>
            <a:picLocks noChangeAspect="1"/>
          </p:cNvPicPr>
          <p:nvPr/>
        </p:nvPicPr>
        <p:blipFill>
          <a:blip r:embed="rId3"/>
          <a:stretch>
            <a:fillRect/>
          </a:stretch>
        </p:blipFill>
        <p:spPr>
          <a:xfrm>
            <a:off x="6638846" y="3231565"/>
            <a:ext cx="4729902" cy="2330923"/>
          </a:xfrm>
          <a:prstGeom prst="rect">
            <a:avLst/>
          </a:prstGeom>
        </p:spPr>
      </p:pic>
      <p:pic>
        <p:nvPicPr>
          <p:cNvPr id="14" name="Рисунок 13">
            <a:extLst>
              <a:ext uri="{FF2B5EF4-FFF2-40B4-BE49-F238E27FC236}">
                <a16:creationId xmlns:a16="http://schemas.microsoft.com/office/drawing/2014/main" id="{9269CA39-E528-34D2-D952-9AB354E9E358}"/>
              </a:ext>
            </a:extLst>
          </p:cNvPr>
          <p:cNvPicPr>
            <a:picLocks noChangeAspect="1"/>
          </p:cNvPicPr>
          <p:nvPr/>
        </p:nvPicPr>
        <p:blipFill>
          <a:blip r:embed="rId4"/>
          <a:stretch>
            <a:fillRect/>
          </a:stretch>
        </p:blipFill>
        <p:spPr>
          <a:xfrm>
            <a:off x="610594" y="3231565"/>
            <a:ext cx="5649297" cy="2711388"/>
          </a:xfrm>
          <a:prstGeom prst="rect">
            <a:avLst/>
          </a:prstGeom>
        </p:spPr>
      </p:pic>
    </p:spTree>
    <p:extLst>
      <p:ext uri="{BB962C8B-B14F-4D97-AF65-F5344CB8AC3E}">
        <p14:creationId xmlns:p14="http://schemas.microsoft.com/office/powerpoint/2010/main" val="2739607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Autofit/>
          </a:bodyPr>
          <a:lstStyle/>
          <a:p>
            <a:r>
              <a:rPr lang="ru-RU" b="1" dirty="0"/>
              <a:t>Методы:</a:t>
            </a:r>
            <a:r>
              <a:rPr lang="en-US" b="1" dirty="0"/>
              <a:t> </a:t>
            </a:r>
            <a:r>
              <a:rPr lang="ru-RU" b="1" dirty="0"/>
              <a:t>селекция моментных условий и их классификация</a:t>
            </a:r>
            <a:br>
              <a:rPr lang="it-IT" b="1" dirty="0">
                <a:effectLst/>
              </a:rPr>
            </a:br>
            <a:br>
              <a:rPr lang="it-IT" b="0" i="0" dirty="0">
                <a:solidFill>
                  <a:srgbClr val="F0F6FC"/>
                </a:solidFill>
                <a:effectLst/>
                <a:latin typeface="-apple-system"/>
              </a:rPr>
            </a:br>
            <a:endParaRPr lang="ru-RU" b="1" dirty="0"/>
          </a:p>
        </p:txBody>
      </p:sp>
      <p:sp>
        <p:nvSpPr>
          <p:cNvPr id="2" name="TextBox 1">
            <a:extLst>
              <a:ext uri="{FF2B5EF4-FFF2-40B4-BE49-F238E27FC236}">
                <a16:creationId xmlns:a16="http://schemas.microsoft.com/office/drawing/2014/main" id="{7BE2ADCD-C31E-F118-4D55-FCF8D333E3B7}"/>
              </a:ext>
            </a:extLst>
          </p:cNvPr>
          <p:cNvSpPr txBox="1"/>
          <p:nvPr/>
        </p:nvSpPr>
        <p:spPr>
          <a:xfrm>
            <a:off x="585898" y="2437241"/>
            <a:ext cx="3123445" cy="369332"/>
          </a:xfrm>
          <a:prstGeom prst="rect">
            <a:avLst/>
          </a:prstGeom>
          <a:noFill/>
        </p:spPr>
        <p:txBody>
          <a:bodyPr wrap="square" rtlCol="0">
            <a:spAutoFit/>
          </a:bodyPr>
          <a:lstStyle/>
          <a:p>
            <a:r>
              <a:rPr lang="ru-RU" dirty="0"/>
              <a:t>В ходе работы...</a:t>
            </a:r>
          </a:p>
        </p:txBody>
      </p:sp>
      <p:pic>
        <p:nvPicPr>
          <p:cNvPr id="9" name="Рисунок 8">
            <a:extLst>
              <a:ext uri="{FF2B5EF4-FFF2-40B4-BE49-F238E27FC236}">
                <a16:creationId xmlns:a16="http://schemas.microsoft.com/office/drawing/2014/main" id="{51ACA7EA-C594-5EEC-4637-CA58F5AE3188}"/>
              </a:ext>
            </a:extLst>
          </p:cNvPr>
          <p:cNvPicPr>
            <a:picLocks noChangeAspect="1"/>
          </p:cNvPicPr>
          <p:nvPr/>
        </p:nvPicPr>
        <p:blipFill>
          <a:blip r:embed="rId3"/>
          <a:stretch>
            <a:fillRect/>
          </a:stretch>
        </p:blipFill>
        <p:spPr>
          <a:xfrm>
            <a:off x="6638846" y="3231565"/>
            <a:ext cx="4729902" cy="2330923"/>
          </a:xfrm>
          <a:prstGeom prst="rect">
            <a:avLst/>
          </a:prstGeom>
        </p:spPr>
      </p:pic>
      <p:pic>
        <p:nvPicPr>
          <p:cNvPr id="4" name="Рисунок 3">
            <a:extLst>
              <a:ext uri="{FF2B5EF4-FFF2-40B4-BE49-F238E27FC236}">
                <a16:creationId xmlns:a16="http://schemas.microsoft.com/office/drawing/2014/main" id="{C62A0C78-72B4-6548-4046-C7A3E289F0AD}"/>
              </a:ext>
            </a:extLst>
          </p:cNvPr>
          <p:cNvPicPr>
            <a:picLocks noChangeAspect="1"/>
          </p:cNvPicPr>
          <p:nvPr/>
        </p:nvPicPr>
        <p:blipFill>
          <a:blip r:embed="rId4"/>
          <a:stretch>
            <a:fillRect/>
          </a:stretch>
        </p:blipFill>
        <p:spPr>
          <a:xfrm>
            <a:off x="585898" y="3137078"/>
            <a:ext cx="5905437" cy="2827452"/>
          </a:xfrm>
          <a:prstGeom prst="rect">
            <a:avLst/>
          </a:prstGeom>
        </p:spPr>
      </p:pic>
    </p:spTree>
    <p:extLst>
      <p:ext uri="{BB962C8B-B14F-4D97-AF65-F5344CB8AC3E}">
        <p14:creationId xmlns:p14="http://schemas.microsoft.com/office/powerpoint/2010/main" val="2295229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C612FDF3-830C-8745-A254-C8DF29B6C387}"/>
              </a:ext>
            </a:extLst>
          </p:cNvPr>
          <p:cNvSpPr>
            <a:spLocks noGrp="1"/>
          </p:cNvSpPr>
          <p:nvPr>
            <p:ph type="body" sz="quarter" idx="13"/>
          </p:nvPr>
        </p:nvSpPr>
        <p:spPr/>
        <p:txBody>
          <a:bodyPr/>
          <a:lstStyle/>
          <a:p>
            <a:r>
              <a:rPr lang="ru-RU" dirty="0"/>
              <a:t>Факультет экономики</a:t>
            </a:r>
          </a:p>
          <a:p>
            <a:endParaRPr lang="en-US" dirty="0"/>
          </a:p>
          <a:p>
            <a:endParaRPr lang="ru-RU" dirty="0"/>
          </a:p>
        </p:txBody>
      </p:sp>
      <p:sp>
        <p:nvSpPr>
          <p:cNvPr id="6" name="Текст 5">
            <a:extLst>
              <a:ext uri="{FF2B5EF4-FFF2-40B4-BE49-F238E27FC236}">
                <a16:creationId xmlns:a16="http://schemas.microsoft.com/office/drawing/2014/main" id="{40682799-9A38-414D-BD10-45C11B66347C}"/>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7" name="Текст 6">
            <a:extLst>
              <a:ext uri="{FF2B5EF4-FFF2-40B4-BE49-F238E27FC236}">
                <a16:creationId xmlns:a16="http://schemas.microsoft.com/office/drawing/2014/main" id="{35F411B5-8431-CE4A-BEA6-775367101901}"/>
              </a:ext>
            </a:extLst>
          </p:cNvPr>
          <p:cNvSpPr>
            <a:spLocks noGrp="1"/>
          </p:cNvSpPr>
          <p:nvPr>
            <p:ph type="body" sz="quarter" idx="15"/>
          </p:nvPr>
        </p:nvSpPr>
        <p:spPr>
          <a:xfrm>
            <a:off x="6259891" y="548720"/>
            <a:ext cx="3879989" cy="408109"/>
          </a:xfrm>
        </p:spPr>
        <p:txBody>
          <a:bodyPr/>
          <a:lstStyle/>
          <a:p>
            <a:r>
              <a:rPr lang="ru-RU" dirty="0"/>
              <a:t>ТЕСТЫ НА ИЗБЫТОЧНОСТЬ МОМЕНТНЫХ  УСЛОВИЙ В ПРИЛОЖЕНИИ К МАКРОЭКОНОМИЧЕСКИМ МОДЕЛЯМ</a:t>
            </a:r>
          </a:p>
        </p:txBody>
      </p:sp>
      <p:sp>
        <p:nvSpPr>
          <p:cNvPr id="8" name="Заголовок 7">
            <a:extLst>
              <a:ext uri="{FF2B5EF4-FFF2-40B4-BE49-F238E27FC236}">
                <a16:creationId xmlns:a16="http://schemas.microsoft.com/office/drawing/2014/main" id="{D371E471-705F-5599-F4F5-F5AF9235006E}"/>
              </a:ext>
            </a:extLst>
          </p:cNvPr>
          <p:cNvSpPr>
            <a:spLocks noGrp="1"/>
          </p:cNvSpPr>
          <p:nvPr>
            <p:ph type="title"/>
          </p:nvPr>
        </p:nvSpPr>
        <p:spPr>
          <a:xfrm>
            <a:off x="585898" y="1447790"/>
            <a:ext cx="9986852" cy="777025"/>
          </a:xfrm>
        </p:spPr>
        <p:txBody>
          <a:bodyPr>
            <a:normAutofit/>
          </a:bodyPr>
          <a:lstStyle/>
          <a:p>
            <a:r>
              <a:rPr lang="ru-RU" b="1" dirty="0"/>
              <a:t>Ожидаемые результаты</a:t>
            </a:r>
          </a:p>
        </p:txBody>
      </p:sp>
      <p:sp>
        <p:nvSpPr>
          <p:cNvPr id="2" name="TextBox 1">
            <a:extLst>
              <a:ext uri="{FF2B5EF4-FFF2-40B4-BE49-F238E27FC236}">
                <a16:creationId xmlns:a16="http://schemas.microsoft.com/office/drawing/2014/main" id="{E1AE29CD-70D2-8FEE-1DB5-47C4184C2B52}"/>
              </a:ext>
            </a:extLst>
          </p:cNvPr>
          <p:cNvSpPr txBox="1"/>
          <p:nvPr/>
        </p:nvSpPr>
        <p:spPr>
          <a:xfrm>
            <a:off x="585898" y="2224815"/>
            <a:ext cx="3571875" cy="2246769"/>
          </a:xfrm>
          <a:prstGeom prst="rect">
            <a:avLst/>
          </a:prstGeom>
          <a:noFill/>
        </p:spPr>
        <p:txBody>
          <a:bodyPr wrap="square" rtlCol="0">
            <a:spAutoFit/>
          </a:bodyPr>
          <a:lstStyle/>
          <a:p>
            <a:r>
              <a:rPr lang="ru-RU" sz="1400" dirty="0"/>
              <a:t>Эмпирическое применение:</a:t>
            </a:r>
          </a:p>
          <a:p>
            <a:pPr marL="285750" indent="-285750">
              <a:buFont typeface="Wingdings" panose="05000000000000000000" pitchFamily="2" charset="2"/>
              <a:buChar char="§"/>
            </a:pPr>
            <a:r>
              <a:rPr lang="ru-RU" sz="1400" dirty="0"/>
              <a:t>Выбор момента из набора </a:t>
            </a:r>
            <a:r>
              <a:rPr lang="ru-RU" sz="1400" dirty="0" err="1"/>
              <a:t>макроинструментов</a:t>
            </a:r>
            <a:r>
              <a:rPr lang="ru-RU" sz="1400" dirty="0"/>
              <a:t> (реальная заработная плата, безработица и т.д.)</a:t>
            </a:r>
          </a:p>
          <a:p>
            <a:pPr marL="285750" indent="-285750">
              <a:buFont typeface="Wingdings" panose="05000000000000000000" pitchFamily="2" charset="2"/>
              <a:buChar char="§"/>
            </a:pPr>
            <a:r>
              <a:rPr lang="ru-RU" sz="1400" dirty="0"/>
              <a:t>Набор информации агента, управляемого данными (с использованием теста)</a:t>
            </a:r>
          </a:p>
          <a:p>
            <a:endParaRPr lang="ru-RU" sz="1400" dirty="0"/>
          </a:p>
          <a:p>
            <a:r>
              <a:rPr lang="ru-RU" sz="1400" dirty="0"/>
              <a:t>Интерпретация сформированного информационного поля</a:t>
            </a:r>
          </a:p>
        </p:txBody>
      </p:sp>
      <p:pic>
        <p:nvPicPr>
          <p:cNvPr id="11266" name="Picture 2" descr="Consumer Price Index Economy Business Money Icon Label Design Vector  26717990 Vector Art at Vecteezy">
            <a:extLst>
              <a:ext uri="{FF2B5EF4-FFF2-40B4-BE49-F238E27FC236}">
                <a16:creationId xmlns:a16="http://schemas.microsoft.com/office/drawing/2014/main" id="{D354C3CA-A16E-3C6A-61BE-688CD871E6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645" y="1447790"/>
            <a:ext cx="1807784" cy="1807784"/>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Unemployment - Free business and finance icons">
            <a:extLst>
              <a:ext uri="{FF2B5EF4-FFF2-40B4-BE49-F238E27FC236}">
                <a16:creationId xmlns:a16="http://schemas.microsoft.com/office/drawing/2014/main" id="{3C31475A-D390-0FAA-F99F-40C11BC01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0946" y="1679739"/>
            <a:ext cx="1432562" cy="1432562"/>
          </a:xfrm>
          <a:prstGeom prst="rect">
            <a:avLst/>
          </a:prstGeom>
          <a:noFill/>
          <a:extLst>
            <a:ext uri="{909E8E84-426E-40DD-AFC4-6F175D3DCCD1}">
              <a14:hiddenFill xmlns:a14="http://schemas.microsoft.com/office/drawing/2010/main">
                <a:solidFill>
                  <a:srgbClr val="FFFFFF"/>
                </a:solidFill>
              </a14:hiddenFill>
            </a:ext>
          </a:extLst>
        </p:spPr>
      </p:pic>
      <p:pic>
        <p:nvPicPr>
          <p:cNvPr id="9" name="Рисунок 8">
            <a:extLst>
              <a:ext uri="{FF2B5EF4-FFF2-40B4-BE49-F238E27FC236}">
                <a16:creationId xmlns:a16="http://schemas.microsoft.com/office/drawing/2014/main" id="{2B3FF6B9-576C-228C-F958-D8F2EC68BE67}"/>
              </a:ext>
            </a:extLst>
          </p:cNvPr>
          <p:cNvPicPr>
            <a:picLocks noChangeAspect="1"/>
          </p:cNvPicPr>
          <p:nvPr/>
        </p:nvPicPr>
        <p:blipFill>
          <a:blip r:embed="rId5"/>
          <a:stretch>
            <a:fillRect/>
          </a:stretch>
        </p:blipFill>
        <p:spPr>
          <a:xfrm>
            <a:off x="5177313" y="3487523"/>
            <a:ext cx="5395437" cy="2763847"/>
          </a:xfrm>
          <a:prstGeom prst="rect">
            <a:avLst/>
          </a:prstGeom>
        </p:spPr>
      </p:pic>
      <p:pic>
        <p:nvPicPr>
          <p:cNvPr id="11278" name="Picture 14" descr="Заработная плата в евро увеличивает статистику прибыли от бизнеса рост  маржинального дохода Финансы рентабельности инвестиций концепция  рентабельности инвестиций со значком стрелки монета плоская векторная  иллюстрация изолирована на белом | Премиум вектор">
            <a:extLst>
              <a:ext uri="{FF2B5EF4-FFF2-40B4-BE49-F238E27FC236}">
                <a16:creationId xmlns:a16="http://schemas.microsoft.com/office/drawing/2014/main" id="{56ADC84C-FE85-618F-7FF9-D896A13FE7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1376" y="1679739"/>
            <a:ext cx="2047511" cy="1229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361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92EB013E-243A-7E44-84B3-4118CCD5AFF9}"/>
              </a:ext>
            </a:extLst>
          </p:cNvPr>
          <p:cNvSpPr>
            <a:spLocks noGrp="1"/>
          </p:cNvSpPr>
          <p:nvPr>
            <p:ph type="body" sz="quarter" idx="13"/>
          </p:nvPr>
        </p:nvSpPr>
        <p:spPr/>
        <p:txBody>
          <a:bodyPr/>
          <a:lstStyle/>
          <a:p>
            <a:r>
              <a:rPr lang="ru-RU" dirty="0"/>
              <a:t>Факультет экономики</a:t>
            </a:r>
          </a:p>
          <a:p>
            <a:endParaRPr lang="ru-RU" dirty="0"/>
          </a:p>
        </p:txBody>
      </p:sp>
      <p:sp>
        <p:nvSpPr>
          <p:cNvPr id="3" name="Текст 2">
            <a:extLst>
              <a:ext uri="{FF2B5EF4-FFF2-40B4-BE49-F238E27FC236}">
                <a16:creationId xmlns:a16="http://schemas.microsoft.com/office/drawing/2014/main" id="{7D323C45-B329-894C-9560-43EF3302210E}"/>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4" name="Текст 3">
            <a:extLst>
              <a:ext uri="{FF2B5EF4-FFF2-40B4-BE49-F238E27FC236}">
                <a16:creationId xmlns:a16="http://schemas.microsoft.com/office/drawing/2014/main" id="{0ADA81B8-0209-EA4C-8306-5853CB70BEE8}"/>
              </a:ext>
            </a:extLst>
          </p:cNvPr>
          <p:cNvSpPr>
            <a:spLocks noGrp="1"/>
          </p:cNvSpPr>
          <p:nvPr>
            <p:ph type="body" sz="quarter" idx="15"/>
          </p:nvPr>
        </p:nvSpPr>
        <p:spPr>
          <a:xfrm>
            <a:off x="6259891" y="548720"/>
            <a:ext cx="3345835" cy="408109"/>
          </a:xfrm>
        </p:spPr>
        <p:txBody>
          <a:bodyPr/>
          <a:lstStyle/>
          <a:p>
            <a:r>
              <a:rPr lang="ru-RU" dirty="0"/>
              <a:t>ТЕСТЫ НА ИЗБЫТОЧНОСТЬ МОМЕНТНЫХ  УСЛОВИЙ В ПРИЛОЖЕНИИ К МАКРОЭКОНОМИЧЕСКИМ МОДЕЛЯМ</a:t>
            </a:r>
          </a:p>
          <a:p>
            <a:endParaRPr lang="ru-RU" dirty="0"/>
          </a:p>
        </p:txBody>
      </p:sp>
      <p:sp>
        <p:nvSpPr>
          <p:cNvPr id="10" name="TextBox 9">
            <a:extLst>
              <a:ext uri="{FF2B5EF4-FFF2-40B4-BE49-F238E27FC236}">
                <a16:creationId xmlns:a16="http://schemas.microsoft.com/office/drawing/2014/main" id="{A299C401-D94B-CD36-376E-D79D2A9E06DF}"/>
              </a:ext>
            </a:extLst>
          </p:cNvPr>
          <p:cNvSpPr txBox="1"/>
          <p:nvPr/>
        </p:nvSpPr>
        <p:spPr>
          <a:xfrm>
            <a:off x="509947" y="1291800"/>
            <a:ext cx="6097508" cy="461665"/>
          </a:xfrm>
          <a:prstGeom prst="rect">
            <a:avLst/>
          </a:prstGeom>
          <a:noFill/>
        </p:spPr>
        <p:txBody>
          <a:bodyPr wrap="square">
            <a:spAutoFit/>
          </a:bodyPr>
          <a:lstStyle/>
          <a:p>
            <a:r>
              <a:rPr lang="ru-RU" sz="2400" b="1" dirty="0">
                <a:latin typeface="HSE Sans" panose="02000000000000000000"/>
              </a:rPr>
              <a:t>Вывод</a:t>
            </a:r>
            <a:endParaRPr lang="ru-RU" sz="2400" b="1" dirty="0"/>
          </a:p>
        </p:txBody>
      </p:sp>
      <p:sp>
        <p:nvSpPr>
          <p:cNvPr id="6" name="TextBox 5">
            <a:extLst>
              <a:ext uri="{FF2B5EF4-FFF2-40B4-BE49-F238E27FC236}">
                <a16:creationId xmlns:a16="http://schemas.microsoft.com/office/drawing/2014/main" id="{DFDD60CB-B510-B552-509D-DC0AA9D2E180}"/>
              </a:ext>
            </a:extLst>
          </p:cNvPr>
          <p:cNvSpPr txBox="1"/>
          <p:nvPr/>
        </p:nvSpPr>
        <p:spPr>
          <a:xfrm>
            <a:off x="509947" y="2088436"/>
            <a:ext cx="6096000" cy="1600438"/>
          </a:xfrm>
          <a:prstGeom prst="rect">
            <a:avLst/>
          </a:prstGeom>
          <a:noFill/>
        </p:spPr>
        <p:txBody>
          <a:bodyPr wrap="square">
            <a:spAutoFit/>
          </a:bodyPr>
          <a:lstStyle/>
          <a:p>
            <a:pPr marL="285750" indent="-285750">
              <a:buFont typeface="Wingdings" panose="05000000000000000000" pitchFamily="2" charset="2"/>
              <a:buChar char="q"/>
            </a:pPr>
            <a:r>
              <a:rPr lang="ru-RU" sz="1400" dirty="0">
                <a:latin typeface="HSE Sans" panose="02000000000000000000"/>
              </a:rPr>
              <a:t>Тесты на релевантность и избыточность верифицированы через специальный </a:t>
            </a:r>
            <a:r>
              <a:rPr lang="en-US" sz="1400" dirty="0">
                <a:latin typeface="HSE Sans" panose="02000000000000000000"/>
              </a:rPr>
              <a:t>DGP </a:t>
            </a:r>
            <a:r>
              <a:rPr lang="ru-RU" sz="1400" dirty="0">
                <a:latin typeface="HSE Sans" panose="02000000000000000000"/>
              </a:rPr>
              <a:t>в </a:t>
            </a:r>
            <a:r>
              <a:rPr lang="en-US" sz="1400" dirty="0">
                <a:latin typeface="HSE Sans" panose="02000000000000000000"/>
              </a:rPr>
              <a:t>MC</a:t>
            </a:r>
            <a:endParaRPr lang="ru-RU" sz="1400" dirty="0">
              <a:latin typeface="HSE Sans" panose="02000000000000000000"/>
            </a:endParaRPr>
          </a:p>
          <a:p>
            <a:pPr marL="285750" indent="-285750">
              <a:buFont typeface="Wingdings" panose="05000000000000000000" pitchFamily="2" charset="2"/>
              <a:buChar char="q"/>
            </a:pPr>
            <a:r>
              <a:rPr lang="ru-RU" sz="1400" dirty="0">
                <a:latin typeface="HSE Sans" panose="02000000000000000000"/>
              </a:rPr>
              <a:t>Разработана и доступна на </a:t>
            </a:r>
            <a:r>
              <a:rPr lang="ru-RU" sz="1400" dirty="0" err="1">
                <a:latin typeface="HSE Sans" panose="02000000000000000000"/>
              </a:rPr>
              <a:t>GitHub</a:t>
            </a:r>
            <a:r>
              <a:rPr lang="ru-RU" sz="1400" dirty="0">
                <a:latin typeface="HSE Sans" panose="02000000000000000000"/>
              </a:rPr>
              <a:t> вычислительная платформа для эмпирического выбора моментов.</a:t>
            </a:r>
          </a:p>
          <a:p>
            <a:pPr marL="285750" indent="-285750">
              <a:buFont typeface="Wingdings" panose="05000000000000000000" pitchFamily="2" charset="2"/>
              <a:buChar char="q"/>
            </a:pPr>
            <a:r>
              <a:rPr lang="ru-RU" sz="1400" dirty="0">
                <a:latin typeface="HSE Sans" panose="02000000000000000000"/>
              </a:rPr>
              <a:t>Эмпирическое применение позволит идентифицировать информационный набор агента, основанный на данных, что повысит надежность модели потребления и интерпретацию </a:t>
            </a:r>
            <a:r>
              <a:rPr lang="en-US" sz="1400" dirty="0">
                <a:latin typeface="HSE Sans" panose="02000000000000000000"/>
              </a:rPr>
              <a:t>policy implication</a:t>
            </a:r>
            <a:endParaRPr lang="ru-RU" sz="1400" dirty="0"/>
          </a:p>
        </p:txBody>
      </p:sp>
      <p:pic>
        <p:nvPicPr>
          <p:cNvPr id="12290" name="Picture 2" descr="Download HD Graphic Freeuse Stock Conclusion Clipart Planning - Planning  Transparent Transparent PNG Image - NicePNG.com">
            <a:extLst>
              <a:ext uri="{FF2B5EF4-FFF2-40B4-BE49-F238E27FC236}">
                <a16:creationId xmlns:a16="http://schemas.microsoft.com/office/drawing/2014/main" id="{7C5C9C40-B9D1-3B16-1A71-82F040B03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2808" y="1753465"/>
            <a:ext cx="2859372" cy="3345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623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92EB013E-243A-7E44-84B3-4118CCD5AFF9}"/>
              </a:ext>
            </a:extLst>
          </p:cNvPr>
          <p:cNvSpPr>
            <a:spLocks noGrp="1"/>
          </p:cNvSpPr>
          <p:nvPr>
            <p:ph type="body" sz="quarter" idx="13"/>
          </p:nvPr>
        </p:nvSpPr>
        <p:spPr/>
        <p:txBody>
          <a:bodyPr/>
          <a:lstStyle/>
          <a:p>
            <a:r>
              <a:rPr lang="ru-RU" dirty="0"/>
              <a:t>Факультет экономики</a:t>
            </a:r>
          </a:p>
        </p:txBody>
      </p:sp>
      <p:sp>
        <p:nvSpPr>
          <p:cNvPr id="3" name="Текст 2">
            <a:extLst>
              <a:ext uri="{FF2B5EF4-FFF2-40B4-BE49-F238E27FC236}">
                <a16:creationId xmlns:a16="http://schemas.microsoft.com/office/drawing/2014/main" id="{7D323C45-B329-894C-9560-43EF3302210E}"/>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4" name="Текст 3">
            <a:extLst>
              <a:ext uri="{FF2B5EF4-FFF2-40B4-BE49-F238E27FC236}">
                <a16:creationId xmlns:a16="http://schemas.microsoft.com/office/drawing/2014/main" id="{0ADA81B8-0209-EA4C-8306-5853CB70BEE8}"/>
              </a:ext>
            </a:extLst>
          </p:cNvPr>
          <p:cNvSpPr>
            <a:spLocks noGrp="1"/>
          </p:cNvSpPr>
          <p:nvPr>
            <p:ph type="body" sz="quarter" idx="15"/>
          </p:nvPr>
        </p:nvSpPr>
        <p:spPr>
          <a:xfrm>
            <a:off x="6259891" y="548720"/>
            <a:ext cx="3345835" cy="408109"/>
          </a:xfrm>
        </p:spPr>
        <p:txBody>
          <a:bodyPr/>
          <a:lstStyle/>
          <a:p>
            <a:r>
              <a:rPr lang="ru-RU" dirty="0"/>
              <a:t>ТЕСТЫ НА ИЗБЫТОЧНОСТЬ МОМЕНТНЫХ  УСЛОВИЙ В ПРИЛОЖЕНИИ К МАКРОЭКОНОМИЧЕСКИМ МОДЕЛЯМ</a:t>
            </a:r>
          </a:p>
          <a:p>
            <a:endParaRPr lang="ru-RU" dirty="0"/>
          </a:p>
        </p:txBody>
      </p:sp>
      <p:sp>
        <p:nvSpPr>
          <p:cNvPr id="8" name="TextBox 7">
            <a:extLst>
              <a:ext uri="{FF2B5EF4-FFF2-40B4-BE49-F238E27FC236}">
                <a16:creationId xmlns:a16="http://schemas.microsoft.com/office/drawing/2014/main" id="{EAEE768A-4BD9-E718-488C-E76DD06D6939}"/>
              </a:ext>
            </a:extLst>
          </p:cNvPr>
          <p:cNvSpPr txBox="1"/>
          <p:nvPr/>
        </p:nvSpPr>
        <p:spPr>
          <a:xfrm>
            <a:off x="530524" y="1753465"/>
            <a:ext cx="11458734" cy="4320991"/>
          </a:xfrm>
          <a:prstGeom prst="rect">
            <a:avLst/>
          </a:prstGeom>
          <a:noFill/>
        </p:spPr>
        <p:txBody>
          <a:bodyPr wrap="square">
            <a:spAutoFit/>
          </a:bodyPr>
          <a:lstStyle/>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Andrews, D. W. K., &amp; Lu, B. (2001). Consistent model and moment selection procedures for GMM estimation with application to dynamic panel data models. </a:t>
            </a:r>
            <a:r>
              <a:rPr lang="en-US" sz="1400" i="1" kern="100" dirty="0">
                <a:effectLst/>
                <a:latin typeface="HSE Sans" panose="02000000000000000000"/>
                <a:ea typeface="Aptos" panose="020B0004020202020204" pitchFamily="34" charset="0"/>
                <a:cs typeface="Times New Roman" panose="02020603050405020304" pitchFamily="18" charset="0"/>
              </a:rPr>
              <a:t>Journal of Econometrics, 101</a:t>
            </a:r>
            <a:r>
              <a:rPr lang="en-US" sz="1400" kern="100" dirty="0">
                <a:effectLst/>
                <a:latin typeface="HSE Sans" panose="02000000000000000000"/>
                <a:ea typeface="Aptos" panose="020B0004020202020204" pitchFamily="34" charset="0"/>
                <a:cs typeface="Times New Roman" panose="02020603050405020304" pitchFamily="18" charset="0"/>
              </a:rPr>
              <a:t>(1), 123–164. </a:t>
            </a:r>
            <a:r>
              <a:rPr lang="en-US" sz="1400" u="sng" kern="100" dirty="0">
                <a:solidFill>
                  <a:srgbClr val="467886"/>
                </a:solidFill>
                <a:effectLst/>
                <a:latin typeface="HSE Sans" panose="02000000000000000000"/>
                <a:ea typeface="Aptos" panose="020B0004020202020204" pitchFamily="34" charset="0"/>
                <a:cs typeface="Times New Roman" panose="02020603050405020304" pitchFamily="18" charset="0"/>
                <a:hlinkClick r:id="rId2"/>
              </a:rPr>
              <a:t>https://doi.org/10.1016/S0304-4076(00)00077-4</a:t>
            </a:r>
            <a:r>
              <a:rPr lang="en-US" sz="1400" kern="100" dirty="0">
                <a:effectLst/>
                <a:latin typeface="HSE Sans" panose="02000000000000000000"/>
                <a:ea typeface="Aptos" panose="020B0004020202020204" pitchFamily="34" charset="0"/>
                <a:cs typeface="Times New Roman" panose="02020603050405020304" pitchFamily="18" charset="0"/>
              </a:rPr>
              <a:t> </a:t>
            </a:r>
            <a:endParaRPr lang="ru-RU" sz="1400" kern="100" dirty="0">
              <a:effectLst/>
              <a:latin typeface="Aptos" panose="020B0004020202020204" pitchFamily="34" charset="0"/>
              <a:ea typeface="Aptos" panose="020B0004020202020204" pitchFamily="34" charset="0"/>
              <a:cs typeface="Times New Roman" panose="02020603050405020304" pitchFamily="18" charset="0"/>
            </a:endParaRPr>
          </a:p>
          <a:p>
            <a:pPr marL="180340" indent="-180340">
              <a:lnSpc>
                <a:spcPct val="200000"/>
              </a:lnSpc>
              <a:spcAft>
                <a:spcPts val="800"/>
              </a:spcAft>
            </a:pPr>
            <a:r>
              <a:rPr lang="en-US" sz="1400" kern="100" dirty="0" err="1">
                <a:effectLst/>
                <a:latin typeface="HSE Sans" panose="02000000000000000000"/>
                <a:ea typeface="Aptos" panose="020B0004020202020204" pitchFamily="34" charset="0"/>
                <a:cs typeface="Times New Roman" panose="02020603050405020304" pitchFamily="18" charset="0"/>
              </a:rPr>
              <a:t>Attanasio</a:t>
            </a:r>
            <a:r>
              <a:rPr lang="en-US" sz="1400" kern="100" dirty="0">
                <a:effectLst/>
                <a:latin typeface="HSE Sans" panose="02000000000000000000"/>
                <a:ea typeface="Aptos" panose="020B0004020202020204" pitchFamily="34" charset="0"/>
                <a:cs typeface="Times New Roman" panose="02020603050405020304" pitchFamily="18" charset="0"/>
              </a:rPr>
              <a:t>, O. P., &amp; Weber, G. (1994). Is consumption growth consistent with intertemporal optimization? Evidence from the Consumer Expenditure Survey (NBER Working Paper No. w4795). National Bureau of Economic Research. </a:t>
            </a:r>
            <a:r>
              <a:rPr lang="en-US" sz="1400" u="sng" kern="100" dirty="0">
                <a:solidFill>
                  <a:srgbClr val="467886"/>
                </a:solidFill>
                <a:effectLst/>
                <a:latin typeface="HSE Sans" panose="02000000000000000000"/>
                <a:ea typeface="Aptos" panose="020B0004020202020204" pitchFamily="34" charset="0"/>
                <a:cs typeface="Times New Roman" panose="02020603050405020304" pitchFamily="18" charset="0"/>
                <a:hlinkClick r:id="rId3"/>
              </a:rPr>
              <a:t>https://doi.org/10.1086/601443</a:t>
            </a:r>
            <a:endParaRPr lang="ru-RU" sz="1400" kern="100" dirty="0">
              <a:effectLst/>
              <a:latin typeface="Aptos" panose="020B0004020202020204" pitchFamily="34" charset="0"/>
              <a:ea typeface="Aptos" panose="020B0004020202020204" pitchFamily="34" charset="0"/>
              <a:cs typeface="Times New Roman" panose="02020603050405020304" pitchFamily="18" charset="0"/>
            </a:endParaRP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Cheng, X., &amp; Liao, Z. (2015). Select the valid and relevant moments: An information-based LASSO for GMM with many moments. </a:t>
            </a:r>
            <a:r>
              <a:rPr lang="en-US" sz="1400" i="1" kern="100" dirty="0">
                <a:effectLst/>
                <a:latin typeface="HSE Sans" panose="02000000000000000000"/>
                <a:ea typeface="Aptos" panose="020B0004020202020204" pitchFamily="34" charset="0"/>
                <a:cs typeface="Times New Roman" panose="02020603050405020304" pitchFamily="18" charset="0"/>
              </a:rPr>
              <a:t>Journal of Econometrics, 186</a:t>
            </a:r>
            <a:r>
              <a:rPr lang="en-US" sz="1400" kern="100" dirty="0">
                <a:effectLst/>
                <a:latin typeface="HSE Sans" panose="02000000000000000000"/>
                <a:ea typeface="Aptos" panose="020B0004020202020204" pitchFamily="34" charset="0"/>
                <a:cs typeface="Times New Roman" panose="02020603050405020304" pitchFamily="18" charset="0"/>
              </a:rPr>
              <a:t>(2), 443–464. </a:t>
            </a:r>
            <a:r>
              <a:rPr lang="en-US" sz="1400" u="sng" kern="100" dirty="0">
                <a:solidFill>
                  <a:srgbClr val="467886"/>
                </a:solidFill>
                <a:effectLst/>
                <a:latin typeface="HSE Sans" panose="02000000000000000000"/>
                <a:ea typeface="Aptos" panose="020B0004020202020204" pitchFamily="34" charset="0"/>
                <a:cs typeface="Times New Roman" panose="02020603050405020304" pitchFamily="18" charset="0"/>
                <a:hlinkClick r:id="rId4"/>
              </a:rPr>
              <a:t>https://doi.org/10.1016/j.jeconom.2015.02.019</a:t>
            </a:r>
            <a:r>
              <a:rPr lang="en-US" sz="1400" kern="100" dirty="0">
                <a:effectLst/>
                <a:latin typeface="HSE Sans" panose="02000000000000000000"/>
                <a:ea typeface="Aptos" panose="020B0004020202020204" pitchFamily="34" charset="0"/>
                <a:cs typeface="Times New Roman" panose="02020603050405020304" pitchFamily="18" charset="0"/>
              </a:rPr>
              <a:t> </a:t>
            </a:r>
            <a:endParaRPr lang="ru-RU" sz="1400" kern="100" dirty="0">
              <a:effectLst/>
              <a:latin typeface="Aptos" panose="020B0004020202020204" pitchFamily="34" charset="0"/>
              <a:ea typeface="Aptos" panose="020B0004020202020204" pitchFamily="34" charset="0"/>
              <a:cs typeface="Times New Roman" panose="02020603050405020304" pitchFamily="18" charset="0"/>
            </a:endParaRP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Hall, R. E. (1981). Stochastic implications of the life cycle–permanent income hypothesis: Theory and evidence. In </a:t>
            </a:r>
            <a:r>
              <a:rPr lang="en-US" sz="1400" i="1" kern="100" dirty="0">
                <a:effectLst/>
                <a:latin typeface="HSE Sans" panose="02000000000000000000"/>
                <a:ea typeface="Aptos" panose="020B0004020202020204" pitchFamily="34" charset="0"/>
                <a:cs typeface="Times New Roman" panose="02020603050405020304" pitchFamily="18" charset="0"/>
              </a:rPr>
              <a:t>Rational Expectations and Econometric Practice</a:t>
            </a:r>
            <a:r>
              <a:rPr lang="en-US" sz="1400" kern="100" dirty="0">
                <a:effectLst/>
                <a:latin typeface="HSE Sans" panose="02000000000000000000"/>
                <a:ea typeface="Aptos" panose="020B0004020202020204" pitchFamily="34" charset="0"/>
                <a:cs typeface="Times New Roman" panose="02020603050405020304" pitchFamily="18" charset="0"/>
              </a:rPr>
              <a:t> (Vol. 2, p. 501). </a:t>
            </a:r>
            <a:r>
              <a:rPr lang="en-US" sz="1400" u="sng" kern="100" dirty="0">
                <a:solidFill>
                  <a:srgbClr val="467886"/>
                </a:solidFill>
                <a:effectLst/>
                <a:latin typeface="HSE Sans" panose="02000000000000000000"/>
                <a:ea typeface="Aptos" panose="020B0004020202020204" pitchFamily="34" charset="0"/>
                <a:cs typeface="Times New Roman" panose="02020603050405020304" pitchFamily="18" charset="0"/>
                <a:hlinkClick r:id="rId5"/>
              </a:rPr>
              <a:t>https://doi.org/10.1086/260724</a:t>
            </a:r>
            <a:endParaRPr lang="ru-RU" sz="1400" kern="100" dirty="0">
              <a:effectLst/>
              <a:latin typeface="Aptos" panose="020B0004020202020204" pitchFamily="34" charset="0"/>
              <a:ea typeface="Aptos" panose="020B0004020202020204" pitchFamily="34" charset="0"/>
              <a:cs typeface="Times New Roman" panose="02020603050405020304" pitchFamily="18" charset="0"/>
            </a:endParaRP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Han, C., &amp; Peter C. B. Phillips. (2006). GMM with Many Moment Conditions. </a:t>
            </a:r>
            <a:r>
              <a:rPr lang="en-US" sz="1400" i="1" kern="100" dirty="0" err="1">
                <a:effectLst/>
                <a:latin typeface="HSE Sans" panose="02000000000000000000"/>
                <a:ea typeface="Aptos" panose="020B0004020202020204" pitchFamily="34" charset="0"/>
                <a:cs typeface="Times New Roman" panose="02020603050405020304" pitchFamily="18" charset="0"/>
              </a:rPr>
              <a:t>Econometrica</a:t>
            </a:r>
            <a:r>
              <a:rPr lang="en-US" sz="1400" kern="100" dirty="0">
                <a:effectLst/>
                <a:latin typeface="HSE Sans" panose="02000000000000000000"/>
                <a:ea typeface="Aptos" panose="020B0004020202020204" pitchFamily="34" charset="0"/>
                <a:cs typeface="Times New Roman" panose="02020603050405020304" pitchFamily="18" charset="0"/>
              </a:rPr>
              <a:t>, </a:t>
            </a:r>
            <a:r>
              <a:rPr lang="en-US" sz="1400" i="1" kern="100" dirty="0">
                <a:effectLst/>
                <a:latin typeface="HSE Sans" panose="02000000000000000000"/>
                <a:ea typeface="Aptos" panose="020B0004020202020204" pitchFamily="34" charset="0"/>
                <a:cs typeface="Times New Roman" panose="02020603050405020304" pitchFamily="18" charset="0"/>
              </a:rPr>
              <a:t>74</a:t>
            </a:r>
            <a:r>
              <a:rPr lang="en-US" sz="1400" kern="100" dirty="0">
                <a:effectLst/>
                <a:latin typeface="HSE Sans" panose="02000000000000000000"/>
                <a:ea typeface="Aptos" panose="020B0004020202020204" pitchFamily="34" charset="0"/>
                <a:cs typeface="Times New Roman" panose="02020603050405020304" pitchFamily="18" charset="0"/>
              </a:rPr>
              <a:t>(1), 147–192. </a:t>
            </a:r>
            <a:r>
              <a:rPr lang="en-US" sz="1400" u="sng" kern="100" dirty="0">
                <a:solidFill>
                  <a:srgbClr val="467886"/>
                </a:solidFill>
                <a:effectLst/>
                <a:latin typeface="HSE Sans" panose="02000000000000000000"/>
                <a:ea typeface="Aptos" panose="020B0004020202020204" pitchFamily="34" charset="0"/>
                <a:cs typeface="Times New Roman" panose="02020603050405020304" pitchFamily="18" charset="0"/>
                <a:hlinkClick r:id="rId6"/>
              </a:rPr>
              <a:t>http://www.jstor.org/stable/3598926</a:t>
            </a:r>
            <a:r>
              <a:rPr lang="en-US" sz="1400" kern="100" dirty="0">
                <a:effectLst/>
                <a:latin typeface="HSE Sans" panose="02000000000000000000"/>
                <a:ea typeface="Aptos" panose="020B0004020202020204" pitchFamily="34" charset="0"/>
                <a:cs typeface="Times New Roman" panose="02020603050405020304" pitchFamily="18" charset="0"/>
              </a:rPr>
              <a:t> </a:t>
            </a:r>
            <a:endParaRPr lang="ru-RU"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A299C401-D94B-CD36-376E-D79D2A9E06DF}"/>
              </a:ext>
            </a:extLst>
          </p:cNvPr>
          <p:cNvSpPr txBox="1"/>
          <p:nvPr/>
        </p:nvSpPr>
        <p:spPr>
          <a:xfrm>
            <a:off x="509947" y="1291800"/>
            <a:ext cx="6097508" cy="461665"/>
          </a:xfrm>
          <a:prstGeom prst="rect">
            <a:avLst/>
          </a:prstGeom>
          <a:noFill/>
        </p:spPr>
        <p:txBody>
          <a:bodyPr wrap="square">
            <a:spAutoFit/>
          </a:bodyPr>
          <a:lstStyle/>
          <a:p>
            <a:r>
              <a:rPr lang="en-US" sz="2400" b="1" dirty="0">
                <a:latin typeface="HSE Sans" panose="02000000000000000000"/>
              </a:rPr>
              <a:t>References</a:t>
            </a:r>
            <a:endParaRPr lang="ru-RU" sz="2400" b="1" dirty="0"/>
          </a:p>
        </p:txBody>
      </p:sp>
    </p:spTree>
    <p:extLst>
      <p:ext uri="{BB962C8B-B14F-4D97-AF65-F5344CB8AC3E}">
        <p14:creationId xmlns:p14="http://schemas.microsoft.com/office/powerpoint/2010/main" val="2988048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92EB013E-243A-7E44-84B3-4118CCD5AFF9}"/>
              </a:ext>
            </a:extLst>
          </p:cNvPr>
          <p:cNvSpPr>
            <a:spLocks noGrp="1"/>
          </p:cNvSpPr>
          <p:nvPr>
            <p:ph type="body" sz="quarter" idx="13"/>
          </p:nvPr>
        </p:nvSpPr>
        <p:spPr/>
        <p:txBody>
          <a:bodyPr/>
          <a:lstStyle/>
          <a:p>
            <a:r>
              <a:rPr lang="ru-RU" dirty="0"/>
              <a:t>Факультет экономики</a:t>
            </a:r>
          </a:p>
          <a:p>
            <a:endParaRPr lang="ru-RU" dirty="0"/>
          </a:p>
        </p:txBody>
      </p:sp>
      <p:sp>
        <p:nvSpPr>
          <p:cNvPr id="3" name="Текст 2">
            <a:extLst>
              <a:ext uri="{FF2B5EF4-FFF2-40B4-BE49-F238E27FC236}">
                <a16:creationId xmlns:a16="http://schemas.microsoft.com/office/drawing/2014/main" id="{7D323C45-B329-894C-9560-43EF3302210E}"/>
              </a:ext>
            </a:extLst>
          </p:cNvPr>
          <p:cNvSpPr>
            <a:spLocks noGrp="1"/>
          </p:cNvSpPr>
          <p:nvPr>
            <p:ph type="body" sz="quarter" idx="14"/>
          </p:nvPr>
        </p:nvSpPr>
        <p:spPr/>
        <p:txBody>
          <a:bodyPr/>
          <a:lstStyle/>
          <a:p>
            <a:r>
              <a:rPr lang="ru-RU" dirty="0"/>
              <a:t>Департамент экономики и анализа данных</a:t>
            </a:r>
            <a:endParaRPr lang="en-US" dirty="0"/>
          </a:p>
          <a:p>
            <a:endParaRPr lang="ru-RU" dirty="0"/>
          </a:p>
        </p:txBody>
      </p:sp>
      <p:sp>
        <p:nvSpPr>
          <p:cNvPr id="4" name="Текст 3">
            <a:extLst>
              <a:ext uri="{FF2B5EF4-FFF2-40B4-BE49-F238E27FC236}">
                <a16:creationId xmlns:a16="http://schemas.microsoft.com/office/drawing/2014/main" id="{0ADA81B8-0209-EA4C-8306-5853CB70BEE8}"/>
              </a:ext>
            </a:extLst>
          </p:cNvPr>
          <p:cNvSpPr>
            <a:spLocks noGrp="1"/>
          </p:cNvSpPr>
          <p:nvPr>
            <p:ph type="body" sz="quarter" idx="15"/>
          </p:nvPr>
        </p:nvSpPr>
        <p:spPr>
          <a:xfrm>
            <a:off x="6259891" y="548720"/>
            <a:ext cx="3345835" cy="408109"/>
          </a:xfrm>
        </p:spPr>
        <p:txBody>
          <a:bodyPr/>
          <a:lstStyle/>
          <a:p>
            <a:r>
              <a:rPr lang="ru-RU" dirty="0"/>
              <a:t>ТЕСТЫ НА ИЗБЫТОЧНОСТЬ МОМЕНТНЫХ  УСЛОВИЙ В ПРИЛОЖЕНИИ К МАКРОЭКОНОМИЧЕСКИМ МОДЕЛЯМ</a:t>
            </a:r>
          </a:p>
          <a:p>
            <a:endParaRPr lang="ru-RU" dirty="0"/>
          </a:p>
        </p:txBody>
      </p:sp>
      <p:sp>
        <p:nvSpPr>
          <p:cNvPr id="8" name="TextBox 7">
            <a:extLst>
              <a:ext uri="{FF2B5EF4-FFF2-40B4-BE49-F238E27FC236}">
                <a16:creationId xmlns:a16="http://schemas.microsoft.com/office/drawing/2014/main" id="{EAEE768A-4BD9-E718-488C-E76DD06D6939}"/>
              </a:ext>
            </a:extLst>
          </p:cNvPr>
          <p:cNvSpPr txBox="1"/>
          <p:nvPr/>
        </p:nvSpPr>
        <p:spPr>
          <a:xfrm>
            <a:off x="530524" y="1753465"/>
            <a:ext cx="11458734" cy="4848571"/>
          </a:xfrm>
          <a:prstGeom prst="rect">
            <a:avLst/>
          </a:prstGeom>
          <a:noFill/>
        </p:spPr>
        <p:txBody>
          <a:bodyPr wrap="square">
            <a:spAutoFit/>
          </a:bodyPr>
          <a:lstStyle/>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Hansen, L. P. (1982). Large sample properties of generalized method of moments estimators. </a:t>
            </a:r>
            <a:r>
              <a:rPr lang="en-US" sz="1400" kern="100" dirty="0" err="1">
                <a:effectLst/>
                <a:latin typeface="HSE Sans" panose="02000000000000000000"/>
                <a:ea typeface="Aptos" panose="020B0004020202020204" pitchFamily="34" charset="0"/>
                <a:cs typeface="Times New Roman" panose="02020603050405020304" pitchFamily="18" charset="0"/>
              </a:rPr>
              <a:t>Econometrica</a:t>
            </a:r>
            <a:r>
              <a:rPr lang="en-US" sz="1400" kern="100" dirty="0">
                <a:effectLst/>
                <a:latin typeface="HSE Sans" panose="02000000000000000000"/>
                <a:ea typeface="Aptos" panose="020B0004020202020204" pitchFamily="34" charset="0"/>
                <a:cs typeface="Times New Roman" panose="02020603050405020304" pitchFamily="18" charset="0"/>
              </a:rPr>
              <a:t>, 50(4), 1029–1054. </a:t>
            </a:r>
            <a:r>
              <a:rPr lang="en-US" sz="1400" kern="100" dirty="0">
                <a:effectLst/>
                <a:latin typeface="HSE Sans" panose="02000000000000000000"/>
                <a:ea typeface="Aptos" panose="020B0004020202020204" pitchFamily="34" charset="0"/>
                <a:cs typeface="Times New Roman" panose="02020603050405020304" pitchFamily="18" charset="0"/>
                <a:hlinkClick r:id="rId2"/>
              </a:rPr>
              <a:t>https://doi.org/10.2307/1912775</a:t>
            </a:r>
            <a:r>
              <a:rPr lang="en-US" sz="1400" kern="100" dirty="0">
                <a:effectLst/>
                <a:latin typeface="HSE Sans" panose="02000000000000000000"/>
                <a:ea typeface="Aptos" panose="020B0004020202020204" pitchFamily="34" charset="0"/>
                <a:cs typeface="Times New Roman" panose="02020603050405020304" pitchFamily="18" charset="0"/>
              </a:rPr>
              <a:t> </a:t>
            </a: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Hansen, L. P., &amp; Singleton, K. J. (1982). Generalized instrumental variables estimation of nonlinear rational expectations models. </a:t>
            </a:r>
            <a:r>
              <a:rPr lang="en-US" sz="1400" kern="100" dirty="0" err="1">
                <a:effectLst/>
                <a:latin typeface="HSE Sans" panose="02000000000000000000"/>
                <a:ea typeface="Aptos" panose="020B0004020202020204" pitchFamily="34" charset="0"/>
                <a:cs typeface="Times New Roman" panose="02020603050405020304" pitchFamily="18" charset="0"/>
              </a:rPr>
              <a:t>Econometrica</a:t>
            </a:r>
            <a:r>
              <a:rPr lang="en-US" sz="1400" kern="100" dirty="0">
                <a:effectLst/>
                <a:latin typeface="HSE Sans" panose="02000000000000000000"/>
                <a:ea typeface="Aptos" panose="020B0004020202020204" pitchFamily="34" charset="0"/>
                <a:cs typeface="Times New Roman" panose="02020603050405020304" pitchFamily="18" charset="0"/>
              </a:rPr>
              <a:t>, 50(5), 1269–1286. </a:t>
            </a:r>
            <a:r>
              <a:rPr lang="en-US" sz="1400" kern="100" dirty="0">
                <a:effectLst/>
                <a:latin typeface="HSE Sans" panose="02000000000000000000"/>
                <a:ea typeface="Aptos" panose="020B0004020202020204" pitchFamily="34" charset="0"/>
                <a:cs typeface="Times New Roman" panose="02020603050405020304" pitchFamily="18" charset="0"/>
                <a:hlinkClick r:id="rId3"/>
              </a:rPr>
              <a:t>https://doi.org/10.2307/1911873</a:t>
            </a:r>
            <a:r>
              <a:rPr lang="en-US" sz="1400" kern="100" dirty="0">
                <a:effectLst/>
                <a:latin typeface="HSE Sans" panose="02000000000000000000"/>
                <a:ea typeface="Aptos" panose="020B0004020202020204" pitchFamily="34" charset="0"/>
                <a:cs typeface="Times New Roman" panose="02020603050405020304" pitchFamily="18" charset="0"/>
              </a:rPr>
              <a:t>   </a:t>
            </a: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Larin, A. (2016). Tests for relevance and redundancy of moment conditions (Working Paper No. 2877644). National Research University Higher School of Economics. </a:t>
            </a:r>
            <a:r>
              <a:rPr lang="en-US" sz="1400" kern="100" dirty="0">
                <a:effectLst/>
                <a:latin typeface="HSE Sans" panose="02000000000000000000"/>
                <a:ea typeface="Aptos" panose="020B0004020202020204" pitchFamily="34" charset="0"/>
                <a:cs typeface="Times New Roman" panose="02020603050405020304" pitchFamily="18" charset="0"/>
                <a:hlinkClick r:id="rId4"/>
              </a:rPr>
              <a:t>https://ssrn.com/abstract=2877644</a:t>
            </a:r>
            <a:r>
              <a:rPr lang="en-US" sz="1400" kern="100" dirty="0">
                <a:effectLst/>
                <a:latin typeface="HSE Sans" panose="02000000000000000000"/>
                <a:ea typeface="Aptos" panose="020B0004020202020204" pitchFamily="34" charset="0"/>
                <a:cs typeface="Times New Roman" panose="02020603050405020304" pitchFamily="18" charset="0"/>
              </a:rPr>
              <a:t> </a:t>
            </a: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Newey, W. K., &amp; West, K. D. (1987). A simple, positive semi-definite, heteroskedasticity and autocorrelation consistent covariance matrix. </a:t>
            </a:r>
            <a:r>
              <a:rPr lang="en-US" sz="1400" kern="100" dirty="0" err="1">
                <a:effectLst/>
                <a:latin typeface="HSE Sans" panose="02000000000000000000"/>
                <a:ea typeface="Aptos" panose="020B0004020202020204" pitchFamily="34" charset="0"/>
                <a:cs typeface="Times New Roman" panose="02020603050405020304" pitchFamily="18" charset="0"/>
              </a:rPr>
              <a:t>Econometrica</a:t>
            </a:r>
            <a:r>
              <a:rPr lang="en-US" sz="1400" kern="100" dirty="0">
                <a:effectLst/>
                <a:latin typeface="HSE Sans" panose="02000000000000000000"/>
                <a:ea typeface="Aptos" panose="020B0004020202020204" pitchFamily="34" charset="0"/>
                <a:cs typeface="Times New Roman" panose="02020603050405020304" pitchFamily="18" charset="0"/>
              </a:rPr>
              <a:t>, 55(3), 703–708. </a:t>
            </a:r>
            <a:r>
              <a:rPr lang="en-US" sz="1400" kern="100" dirty="0">
                <a:effectLst/>
                <a:latin typeface="HSE Sans" panose="02000000000000000000"/>
                <a:ea typeface="Aptos" panose="020B0004020202020204" pitchFamily="34" charset="0"/>
                <a:cs typeface="Times New Roman" panose="02020603050405020304" pitchFamily="18" charset="0"/>
                <a:hlinkClick r:id="rId5"/>
              </a:rPr>
              <a:t>https://doi.org/10.2307/1913610</a:t>
            </a:r>
            <a:r>
              <a:rPr lang="en-US" sz="1400" kern="100" dirty="0">
                <a:effectLst/>
                <a:latin typeface="HSE Sans" panose="02000000000000000000"/>
                <a:ea typeface="Aptos" panose="020B0004020202020204" pitchFamily="34" charset="0"/>
                <a:cs typeface="Times New Roman" panose="02020603050405020304" pitchFamily="18" charset="0"/>
              </a:rPr>
              <a:t> </a:t>
            </a:r>
          </a:p>
          <a:p>
            <a:pPr marL="180340" indent="-180340">
              <a:lnSpc>
                <a:spcPct val="200000"/>
              </a:lnSpc>
              <a:spcAft>
                <a:spcPts val="800"/>
              </a:spcAft>
            </a:pPr>
            <a:r>
              <a:rPr lang="en-US" sz="1400" kern="100" dirty="0" err="1">
                <a:effectLst/>
                <a:latin typeface="HSE Sans" panose="02000000000000000000"/>
                <a:ea typeface="Aptos" panose="020B0004020202020204" pitchFamily="34" charset="0"/>
                <a:cs typeface="Times New Roman" panose="02020603050405020304" pitchFamily="18" charset="0"/>
              </a:rPr>
              <a:t>SberIndex</a:t>
            </a:r>
            <a:r>
              <a:rPr lang="en-US" sz="1400" kern="100" dirty="0">
                <a:effectLst/>
                <a:latin typeface="HSE Sans" panose="02000000000000000000"/>
                <a:ea typeface="Aptos" panose="020B0004020202020204" pitchFamily="34" charset="0"/>
                <a:cs typeface="Times New Roman" panose="02020603050405020304" pitchFamily="18" charset="0"/>
              </a:rPr>
              <a:t>. (n.d.). Consumer spending index. </a:t>
            </a:r>
            <a:r>
              <a:rPr lang="en-US" sz="1400" kern="100" dirty="0" err="1">
                <a:effectLst/>
                <a:latin typeface="HSE Sans" panose="02000000000000000000"/>
                <a:ea typeface="Aptos" panose="020B0004020202020204" pitchFamily="34" charset="0"/>
                <a:cs typeface="Times New Roman" panose="02020603050405020304" pitchFamily="18" charset="0"/>
              </a:rPr>
              <a:t>SberIndex</a:t>
            </a:r>
            <a:r>
              <a:rPr lang="en-US" sz="1400" kern="100" dirty="0">
                <a:effectLst/>
                <a:latin typeface="HSE Sans" panose="02000000000000000000"/>
                <a:ea typeface="Aptos" panose="020B0004020202020204" pitchFamily="34" charset="0"/>
                <a:cs typeface="Times New Roman" panose="02020603050405020304" pitchFamily="18" charset="0"/>
              </a:rPr>
              <a:t> analytical portal. </a:t>
            </a:r>
            <a:r>
              <a:rPr lang="en-US" sz="1400" kern="100" dirty="0">
                <a:effectLst/>
                <a:latin typeface="HSE Sans" panose="02000000000000000000"/>
                <a:ea typeface="Aptos" panose="020B0004020202020204" pitchFamily="34" charset="0"/>
                <a:cs typeface="Times New Roman" panose="02020603050405020304" pitchFamily="18" charset="0"/>
                <a:hlinkClick r:id="rId6"/>
              </a:rPr>
              <a:t>https://www.sberindex.ru/ru/dashboards/consumer-spending</a:t>
            </a:r>
            <a:r>
              <a:rPr lang="en-US" sz="1400" kern="100" dirty="0">
                <a:effectLst/>
                <a:latin typeface="HSE Sans" panose="02000000000000000000"/>
                <a:ea typeface="Aptos" panose="020B0004020202020204" pitchFamily="34" charset="0"/>
                <a:cs typeface="Times New Roman" panose="02020603050405020304" pitchFamily="18" charset="0"/>
              </a:rPr>
              <a:t> </a:t>
            </a:r>
          </a:p>
          <a:p>
            <a:pPr marL="180340" indent="-180340">
              <a:lnSpc>
                <a:spcPct val="200000"/>
              </a:lnSpc>
              <a:spcAft>
                <a:spcPts val="800"/>
              </a:spcAft>
            </a:pPr>
            <a:r>
              <a:rPr lang="en-US" sz="1400" kern="100" dirty="0">
                <a:effectLst/>
                <a:latin typeface="HSE Sans" panose="02000000000000000000"/>
                <a:ea typeface="Aptos" panose="020B0004020202020204" pitchFamily="34" charset="0"/>
                <a:cs typeface="Times New Roman" panose="02020603050405020304" pitchFamily="18" charset="0"/>
              </a:rPr>
              <a:t>Stock, J. H., &amp; Wright, J. H. (2000). GMM with weak identification. </a:t>
            </a:r>
            <a:r>
              <a:rPr lang="en-US" sz="1400" kern="100" dirty="0" err="1">
                <a:effectLst/>
                <a:latin typeface="HSE Sans" panose="02000000000000000000"/>
                <a:ea typeface="Aptos" panose="020B0004020202020204" pitchFamily="34" charset="0"/>
                <a:cs typeface="Times New Roman" panose="02020603050405020304" pitchFamily="18" charset="0"/>
              </a:rPr>
              <a:t>Econometrica</a:t>
            </a:r>
            <a:r>
              <a:rPr lang="en-US" sz="1400" kern="100" dirty="0">
                <a:effectLst/>
                <a:latin typeface="HSE Sans" panose="02000000000000000000"/>
                <a:ea typeface="Aptos" panose="020B0004020202020204" pitchFamily="34" charset="0"/>
                <a:cs typeface="Times New Roman" panose="02020603050405020304" pitchFamily="18" charset="0"/>
              </a:rPr>
              <a:t>, 68(5), 1055–1096. </a:t>
            </a:r>
            <a:r>
              <a:rPr lang="en-US" sz="1400" kern="100" dirty="0">
                <a:effectLst/>
                <a:latin typeface="HSE Sans" panose="02000000000000000000"/>
                <a:ea typeface="Aptos" panose="020B0004020202020204" pitchFamily="34" charset="0"/>
                <a:cs typeface="Times New Roman" panose="02020603050405020304" pitchFamily="18" charset="0"/>
                <a:hlinkClick r:id="rId7"/>
              </a:rPr>
              <a:t>https://doi.org/10.1111/1468-0262.00151</a:t>
            </a:r>
            <a:r>
              <a:rPr lang="en-US" sz="1400" kern="100" dirty="0">
                <a:effectLst/>
                <a:latin typeface="HSE Sans" panose="02000000000000000000"/>
                <a:ea typeface="Aptos" panose="020B0004020202020204" pitchFamily="34" charset="0"/>
                <a:cs typeface="Times New Roman" panose="02020603050405020304" pitchFamily="18" charset="0"/>
              </a:rPr>
              <a:t> </a:t>
            </a:r>
          </a:p>
        </p:txBody>
      </p:sp>
      <p:sp>
        <p:nvSpPr>
          <p:cNvPr id="10" name="TextBox 9">
            <a:extLst>
              <a:ext uri="{FF2B5EF4-FFF2-40B4-BE49-F238E27FC236}">
                <a16:creationId xmlns:a16="http://schemas.microsoft.com/office/drawing/2014/main" id="{A299C401-D94B-CD36-376E-D79D2A9E06DF}"/>
              </a:ext>
            </a:extLst>
          </p:cNvPr>
          <p:cNvSpPr txBox="1"/>
          <p:nvPr/>
        </p:nvSpPr>
        <p:spPr>
          <a:xfrm>
            <a:off x="509947" y="1291800"/>
            <a:ext cx="6097508" cy="461665"/>
          </a:xfrm>
          <a:prstGeom prst="rect">
            <a:avLst/>
          </a:prstGeom>
          <a:noFill/>
        </p:spPr>
        <p:txBody>
          <a:bodyPr wrap="square">
            <a:spAutoFit/>
          </a:bodyPr>
          <a:lstStyle/>
          <a:p>
            <a:r>
              <a:rPr lang="en-US" sz="2400" b="1" dirty="0">
                <a:latin typeface="HSE Sans" panose="02000000000000000000"/>
              </a:rPr>
              <a:t>References</a:t>
            </a:r>
            <a:endParaRPr lang="ru-RU" sz="2400" b="1" dirty="0"/>
          </a:p>
        </p:txBody>
      </p:sp>
    </p:spTree>
    <p:extLst>
      <p:ext uri="{BB962C8B-B14F-4D97-AF65-F5344CB8AC3E}">
        <p14:creationId xmlns:p14="http://schemas.microsoft.com/office/powerpoint/2010/main" val="2712946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51D9E3-4C3C-7E1F-FEDF-F9F29896CD5B}"/>
              </a:ext>
            </a:extLst>
          </p:cNvPr>
          <p:cNvSpPr txBox="1"/>
          <p:nvPr/>
        </p:nvSpPr>
        <p:spPr>
          <a:xfrm>
            <a:off x="3183466" y="999067"/>
            <a:ext cx="5825067" cy="646331"/>
          </a:xfrm>
          <a:prstGeom prst="rect">
            <a:avLst/>
          </a:prstGeom>
          <a:noFill/>
        </p:spPr>
        <p:txBody>
          <a:bodyPr wrap="square" rtlCol="0">
            <a:spAutoFit/>
          </a:bodyPr>
          <a:lstStyle/>
          <a:p>
            <a:pPr algn="ctr"/>
            <a:r>
              <a:rPr lang="ru-RU" sz="3600" b="1" dirty="0">
                <a:solidFill>
                  <a:schemeClr val="bg1"/>
                </a:solidFill>
                <a:latin typeface="HSE Sans" panose="02000000000000000000" pitchFamily="2" charset="0"/>
              </a:rPr>
              <a:t>Спасибо за внимание</a:t>
            </a:r>
          </a:p>
        </p:txBody>
      </p:sp>
    </p:spTree>
    <p:extLst>
      <p:ext uri="{BB962C8B-B14F-4D97-AF65-F5344CB8AC3E}">
        <p14:creationId xmlns:p14="http://schemas.microsoft.com/office/powerpoint/2010/main" val="113492371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516</TotalTime>
  <Words>4660</Words>
  <Application>Microsoft Office PowerPoint</Application>
  <PresentationFormat>Широкоэкранный</PresentationFormat>
  <Paragraphs>521</Paragraphs>
  <Slides>38</Slides>
  <Notes>33</Notes>
  <HiddenSlides>0</HiddenSlides>
  <MMClips>0</MMClips>
  <ScaleCrop>false</ScaleCrop>
  <HeadingPairs>
    <vt:vector size="6" baseType="variant">
      <vt:variant>
        <vt:lpstr>Использованные шрифты</vt:lpstr>
      </vt:variant>
      <vt:variant>
        <vt:i4>7</vt:i4>
      </vt:variant>
      <vt:variant>
        <vt:lpstr>Тема</vt:lpstr>
      </vt:variant>
      <vt:variant>
        <vt:i4>2</vt:i4>
      </vt:variant>
      <vt:variant>
        <vt:lpstr>Заголовки слайдов</vt:lpstr>
      </vt:variant>
      <vt:variant>
        <vt:i4>38</vt:i4>
      </vt:variant>
    </vt:vector>
  </HeadingPairs>
  <TitlesOfParts>
    <vt:vector size="47" baseType="lpstr">
      <vt:lpstr>-apple-system</vt:lpstr>
      <vt:lpstr>Aptos</vt:lpstr>
      <vt:lpstr>Aptos Display</vt:lpstr>
      <vt:lpstr>Arial</vt:lpstr>
      <vt:lpstr>HSE Sans</vt:lpstr>
      <vt:lpstr>Times New Roman</vt:lpstr>
      <vt:lpstr>Wingdings</vt:lpstr>
      <vt:lpstr>Тема Office</vt:lpstr>
      <vt:lpstr>Office Theme</vt:lpstr>
      <vt:lpstr>ТЕСТЫ НА ИЗБЫТОЧНОСТЬ МОМЕНТНЫХ  УСЛОВИЙ В ПРИЛОЖЕНИИ К МАКРОЭКОНОМИЧЕСКИМ МОДЕЛЯМ</vt:lpstr>
      <vt:lpstr>СОДЕРЖАНИЕ</vt:lpstr>
      <vt:lpstr>Введение: бэкграунд</vt:lpstr>
      <vt:lpstr>Введение: бэкграунд</vt:lpstr>
      <vt:lpstr>Введение: постановка задачи</vt:lpstr>
      <vt:lpstr>Введение: профессиональная значимость</vt:lpstr>
      <vt:lpstr>Обзор литературы: основы gmm</vt:lpstr>
      <vt:lpstr>Обзор литературы: ограничения gmm в контексте моментных условий</vt:lpstr>
      <vt:lpstr>Literature Review: attempts to select moment conditions </vt:lpstr>
      <vt:lpstr>Обзор литературы: тест на релевантность и избыточность моментных условий</vt:lpstr>
      <vt:lpstr>Обзор литературы: тест на релевантность и избыточность моментных условий</vt:lpstr>
      <vt:lpstr>Методы </vt:lpstr>
      <vt:lpstr>Методы </vt:lpstr>
      <vt:lpstr>Методы: моделирование MC non_partial_monte_carlo.py   </vt:lpstr>
      <vt:lpstr>Методы: моделирование MC non_partial_monte_carlo.py   </vt:lpstr>
      <vt:lpstr>Методы: моделирование MC non_partial_monte_carlo.py   </vt:lpstr>
      <vt:lpstr>Методы: моделирование MC non_partial_monte_carlo.py   </vt:lpstr>
      <vt:lpstr>Методы: моделирование MC non_partial_monte_carlo.py   </vt:lpstr>
      <vt:lpstr>Методы: моделирование MC non_partial_monte_carlo.py::unconditional_relevance   </vt:lpstr>
      <vt:lpstr>Методы: моделирование MC non_partial_monte_carlo.py::conditional_relevance   </vt:lpstr>
      <vt:lpstr>Методы: моделирование MC partial_monte_carlo.py  </vt:lpstr>
      <vt:lpstr>Методы: моделирование MC partial_monte_carlo.py  </vt:lpstr>
      <vt:lpstr>Методы: моделирование MC partial_monte_carlo.py  </vt:lpstr>
      <vt:lpstr>Методы: моделирование MC partial_monte_carlo.py  </vt:lpstr>
      <vt:lpstr>Методы: моделирование MC partial_monte_carlo.py  </vt:lpstr>
      <vt:lpstr>Методы: моделирование MC partial_monte_carlo.py  </vt:lpstr>
      <vt:lpstr>Методы: моделирование MC partial_monte_carlo::partial_unconditional_relevance  </vt:lpstr>
      <vt:lpstr>Методы: моделирование MC partial_monte_carlo::partial_conditional_relevance  </vt:lpstr>
      <vt:lpstr>Методы: сбор и обработка данных  </vt:lpstr>
      <vt:lpstr>Методы: сбор и обработка данных  </vt:lpstr>
      <vt:lpstr>Методы: сбор и обработка данных  </vt:lpstr>
      <vt:lpstr>Методы: селекция моментных условий и их классификация  </vt:lpstr>
      <vt:lpstr>Методы: селекция моментных условий и их классификация  </vt:lpstr>
      <vt:lpstr>Ожидаемые результаты</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Гладков Александр Евгеньевич</dc:creator>
  <cp:lastModifiedBy>Гладков Александр Евгеньевич</cp:lastModifiedBy>
  <cp:revision>164</cp:revision>
  <dcterms:created xsi:type="dcterms:W3CDTF">2026-02-23T09:21:59Z</dcterms:created>
  <dcterms:modified xsi:type="dcterms:W3CDTF">2026-03-09T09:26:39Z</dcterms:modified>
</cp:coreProperties>
</file>